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DM Sans" pitchFamily="2" charset="0"/>
      <p:regular r:id="rId13"/>
    </p:embeddedFont>
    <p:embeddedFont>
      <p:font typeface="DM Sans Bold" charset="0"/>
      <p:regular r:id="rId14"/>
    </p:embeddedFont>
    <p:embeddedFont>
      <p:font typeface="Libre Baskerville" panose="020000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19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hyperlink" Target="http://127.0.0.1:500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8" y="3548509"/>
            <a:ext cx="11001524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Automated Resume Screening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934842"/>
            <a:ext cx="16303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Intelligent matching of resumes to job descriptions with AI-driven role suggestions.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707410"/>
            <a:ext cx="16303526" cy="888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rPr>
              <a:t>Institution/Department:</a:t>
            </a:r>
            <a:r>
              <a:rPr lang="en-US" sz="2187" dirty="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SRM University AP / Computer Science and Engineering</a:t>
            </a:r>
          </a:p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rPr>
              <a:t>Semester/Year:</a:t>
            </a:r>
            <a:r>
              <a:rPr lang="en-US" sz="2187" dirty="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5th </a:t>
            </a:r>
            <a:r>
              <a:rPr lang="en-US" sz="2187" dirty="0" err="1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sem</a:t>
            </a:r>
            <a:r>
              <a:rPr lang="en-US" sz="2187" dirty="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/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8" y="873919"/>
            <a:ext cx="7088237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Talented Team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2780705"/>
            <a:ext cx="5245447" cy="3174355"/>
            <a:chOff x="0" y="0"/>
            <a:chExt cx="6993930" cy="42324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93890" cy="4232529"/>
            </a:xfrm>
            <a:custGeom>
              <a:avLst/>
              <a:gdLst/>
              <a:ahLst/>
              <a:cxnLst/>
              <a:rect l="l" t="t" r="r" b="b"/>
              <a:pathLst>
                <a:path w="6993890" h="4232529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988689"/>
                  </a:lnTo>
                  <a:cubicBezTo>
                    <a:pt x="6993890" y="4123309"/>
                    <a:pt x="6884670" y="4232529"/>
                    <a:pt x="6750050" y="4232529"/>
                  </a:cubicBezTo>
                  <a:lnTo>
                    <a:pt x="243840" y="4232529"/>
                  </a:lnTo>
                  <a:cubicBezTo>
                    <a:pt x="109220" y="4232529"/>
                    <a:pt x="0" y="4123309"/>
                    <a:pt x="0" y="3988689"/>
                  </a:cubicBez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92238" y="2742605"/>
            <a:ext cx="5245447" cy="152400"/>
            <a:chOff x="0" y="0"/>
            <a:chExt cx="6993930" cy="203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93890" cy="203200"/>
            </a:xfrm>
            <a:custGeom>
              <a:avLst/>
              <a:gdLst/>
              <a:ahLst/>
              <a:cxnLst/>
              <a:rect l="l" t="t" r="r" b="b"/>
              <a:pathLst>
                <a:path w="6993890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3189610" y="2355502"/>
            <a:ext cx="850552" cy="850552"/>
            <a:chOff x="0" y="0"/>
            <a:chExt cx="1134070" cy="11340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3444701" y="2463404"/>
            <a:ext cx="340221" cy="52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3855" y="3470374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Tejamanoj Kumar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3855" y="4007198"/>
            <a:ext cx="4602212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Roll No: AP23110010352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3855" y="4630936"/>
            <a:ext cx="460221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tejamanojkumar_amara@srmap.edu.in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521202" y="2780705"/>
            <a:ext cx="5245447" cy="3174355"/>
            <a:chOff x="0" y="0"/>
            <a:chExt cx="6993930" cy="423247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93890" cy="4232529"/>
            </a:xfrm>
            <a:custGeom>
              <a:avLst/>
              <a:gdLst/>
              <a:ahLst/>
              <a:cxnLst/>
              <a:rect l="l" t="t" r="r" b="b"/>
              <a:pathLst>
                <a:path w="6993890" h="4232529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988689"/>
                  </a:lnTo>
                  <a:cubicBezTo>
                    <a:pt x="6993890" y="4123309"/>
                    <a:pt x="6884670" y="4232529"/>
                    <a:pt x="6750050" y="4232529"/>
                  </a:cubicBezTo>
                  <a:lnTo>
                    <a:pt x="243840" y="4232529"/>
                  </a:lnTo>
                  <a:cubicBezTo>
                    <a:pt x="109220" y="4232529"/>
                    <a:pt x="0" y="4123309"/>
                    <a:pt x="0" y="3988689"/>
                  </a:cubicBez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521202" y="2742605"/>
            <a:ext cx="5245447" cy="152400"/>
            <a:chOff x="0" y="0"/>
            <a:chExt cx="6993930" cy="203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93890" cy="203200"/>
            </a:xfrm>
            <a:custGeom>
              <a:avLst/>
              <a:gdLst/>
              <a:ahLst/>
              <a:cxnLst/>
              <a:rect l="l" t="t" r="r" b="b"/>
              <a:pathLst>
                <a:path w="6993890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718575" y="2355502"/>
            <a:ext cx="850552" cy="850552"/>
            <a:chOff x="0" y="0"/>
            <a:chExt cx="1134070" cy="113407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8973666" y="2463404"/>
            <a:ext cx="340221" cy="52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42820" y="3470374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Neha kovi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42820" y="4007198"/>
            <a:ext cx="4602212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Roll No: AP23110010299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42820" y="4630936"/>
            <a:ext cx="4602212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neha_kovi@srmap.edu.in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050166" y="2780705"/>
            <a:ext cx="5245447" cy="3174355"/>
            <a:chOff x="0" y="0"/>
            <a:chExt cx="6993930" cy="423247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93890" cy="4232529"/>
            </a:xfrm>
            <a:custGeom>
              <a:avLst/>
              <a:gdLst/>
              <a:ahLst/>
              <a:cxnLst/>
              <a:rect l="l" t="t" r="r" b="b"/>
              <a:pathLst>
                <a:path w="6993890" h="4232529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988689"/>
                  </a:lnTo>
                  <a:cubicBezTo>
                    <a:pt x="6993890" y="4123309"/>
                    <a:pt x="6884670" y="4232529"/>
                    <a:pt x="6750050" y="4232529"/>
                  </a:cubicBezTo>
                  <a:lnTo>
                    <a:pt x="243840" y="4232529"/>
                  </a:lnTo>
                  <a:cubicBezTo>
                    <a:pt x="109220" y="4232529"/>
                    <a:pt x="0" y="4123309"/>
                    <a:pt x="0" y="3988689"/>
                  </a:cubicBez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2050166" y="2742605"/>
            <a:ext cx="5245447" cy="152400"/>
            <a:chOff x="0" y="0"/>
            <a:chExt cx="6993930" cy="203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993890" cy="203200"/>
            </a:xfrm>
            <a:custGeom>
              <a:avLst/>
              <a:gdLst/>
              <a:ahLst/>
              <a:cxnLst/>
              <a:rect l="l" t="t" r="r" b="b"/>
              <a:pathLst>
                <a:path w="6993890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4247540" y="2355502"/>
            <a:ext cx="850553" cy="850552"/>
            <a:chOff x="0" y="0"/>
            <a:chExt cx="1134070" cy="113407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4502631" y="2463404"/>
            <a:ext cx="340221" cy="52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371784" y="3470374"/>
            <a:ext cx="430232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 Somasekhara Srinivas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71784" y="4007198"/>
            <a:ext cx="4602213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Roll No: AP23110010352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371784" y="4630936"/>
            <a:ext cx="460221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somashekhara_sannapaneni@srmap.edu.in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92238" y="6663779"/>
            <a:ext cx="8009930" cy="2720728"/>
            <a:chOff x="0" y="0"/>
            <a:chExt cx="10679907" cy="362763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679938" cy="3627628"/>
            </a:xfrm>
            <a:custGeom>
              <a:avLst/>
              <a:gdLst/>
              <a:ahLst/>
              <a:cxnLst/>
              <a:rect l="l" t="t" r="r" b="b"/>
              <a:pathLst>
                <a:path w="10679938" h="362762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383788"/>
                  </a:lnTo>
                  <a:cubicBezTo>
                    <a:pt x="10679938" y="3518408"/>
                    <a:pt x="10570718" y="3627628"/>
                    <a:pt x="10436098" y="3627628"/>
                  </a:cubicBezTo>
                  <a:lnTo>
                    <a:pt x="243840" y="3627628"/>
                  </a:lnTo>
                  <a:cubicBezTo>
                    <a:pt x="109220" y="3627628"/>
                    <a:pt x="0" y="3518408"/>
                    <a:pt x="0" y="3383788"/>
                  </a:cubicBez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992238" y="6625679"/>
            <a:ext cx="8009930" cy="152400"/>
            <a:chOff x="0" y="0"/>
            <a:chExt cx="10679907" cy="203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679938" cy="203200"/>
            </a:xfrm>
            <a:custGeom>
              <a:avLst/>
              <a:gdLst/>
              <a:ahLst/>
              <a:cxnLst/>
              <a:rect l="l" t="t" r="r" b="b"/>
              <a:pathLst>
                <a:path w="10679938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578338" y="0"/>
                  </a:lnTo>
                  <a:cubicBezTo>
                    <a:pt x="10634472" y="0"/>
                    <a:pt x="10679938" y="45466"/>
                    <a:pt x="10679938" y="101600"/>
                  </a:cubicBezTo>
                  <a:cubicBezTo>
                    <a:pt x="10679938" y="157734"/>
                    <a:pt x="10634472" y="203200"/>
                    <a:pt x="10578338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4571925" y="6238577"/>
            <a:ext cx="850553" cy="850552"/>
            <a:chOff x="0" y="0"/>
            <a:chExt cx="1134070" cy="113407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4827018" y="6346477"/>
            <a:ext cx="340221" cy="52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13855" y="7353449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Praveen Kumar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13855" y="7890271"/>
            <a:ext cx="7366695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Roll No: AP23110010111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13855" y="8514010"/>
            <a:ext cx="7366695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praveenkumar_yerrapati@srmap.edu.in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9285685" y="6663779"/>
            <a:ext cx="8009930" cy="2720728"/>
            <a:chOff x="0" y="0"/>
            <a:chExt cx="10679907" cy="362763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679938" cy="3627628"/>
            </a:xfrm>
            <a:custGeom>
              <a:avLst/>
              <a:gdLst/>
              <a:ahLst/>
              <a:cxnLst/>
              <a:rect l="l" t="t" r="r" b="b"/>
              <a:pathLst>
                <a:path w="10679938" h="362762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383788"/>
                  </a:lnTo>
                  <a:cubicBezTo>
                    <a:pt x="10679938" y="3518408"/>
                    <a:pt x="10570718" y="3627628"/>
                    <a:pt x="10436098" y="3627628"/>
                  </a:cubicBezTo>
                  <a:lnTo>
                    <a:pt x="243840" y="3627628"/>
                  </a:lnTo>
                  <a:cubicBezTo>
                    <a:pt x="109220" y="3627628"/>
                    <a:pt x="0" y="3518408"/>
                    <a:pt x="0" y="3383788"/>
                  </a:cubicBez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9285685" y="6625679"/>
            <a:ext cx="8009930" cy="152400"/>
            <a:chOff x="0" y="0"/>
            <a:chExt cx="10679907" cy="2032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679938" cy="203200"/>
            </a:xfrm>
            <a:custGeom>
              <a:avLst/>
              <a:gdLst/>
              <a:ahLst/>
              <a:cxnLst/>
              <a:rect l="l" t="t" r="r" b="b"/>
              <a:pathLst>
                <a:path w="10679938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578338" y="0"/>
                  </a:lnTo>
                  <a:cubicBezTo>
                    <a:pt x="10634472" y="0"/>
                    <a:pt x="10679938" y="45466"/>
                    <a:pt x="10679938" y="101600"/>
                  </a:cubicBezTo>
                  <a:cubicBezTo>
                    <a:pt x="10679938" y="157734"/>
                    <a:pt x="10634472" y="203200"/>
                    <a:pt x="10578338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12865372" y="6238577"/>
            <a:ext cx="850553" cy="850552"/>
            <a:chOff x="0" y="0"/>
            <a:chExt cx="1134070" cy="113407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13120464" y="6346477"/>
            <a:ext cx="340221" cy="52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607302" y="7353449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Siva Mani Abburi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607302" y="7890271"/>
            <a:ext cx="7366695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Roll No: AP23110010423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607302" y="8514010"/>
            <a:ext cx="7366695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sivamani_abburi@srmap.edu.in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70657" y="743694"/>
            <a:ext cx="7505700" cy="582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Addressing the Hiring Challenge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0657" y="1767334"/>
            <a:ext cx="3605807" cy="46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Problem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65895" y="2425452"/>
            <a:ext cx="415081" cy="415081"/>
            <a:chOff x="0" y="0"/>
            <a:chExt cx="553442" cy="553442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540766" cy="540766"/>
            </a:xfrm>
            <a:custGeom>
              <a:avLst/>
              <a:gdLst/>
              <a:ahLst/>
              <a:cxnLst/>
              <a:rect l="l" t="t" r="r" b="b"/>
              <a:pathLst>
                <a:path w="540766" h="540766">
                  <a:moveTo>
                    <a:pt x="0" y="100965"/>
                  </a:moveTo>
                  <a:cubicBezTo>
                    <a:pt x="0" y="45212"/>
                    <a:pt x="45212" y="0"/>
                    <a:pt x="100965" y="0"/>
                  </a:cubicBezTo>
                  <a:lnTo>
                    <a:pt x="439801" y="0"/>
                  </a:lnTo>
                  <a:cubicBezTo>
                    <a:pt x="495554" y="0"/>
                    <a:pt x="540766" y="45212"/>
                    <a:pt x="540766" y="100965"/>
                  </a:cubicBezTo>
                  <a:lnTo>
                    <a:pt x="540766" y="439801"/>
                  </a:lnTo>
                  <a:cubicBezTo>
                    <a:pt x="540766" y="495554"/>
                    <a:pt x="495554" y="540766"/>
                    <a:pt x="439801" y="540766"/>
                  </a:cubicBezTo>
                  <a:lnTo>
                    <a:pt x="100965" y="540766"/>
                  </a:lnTo>
                  <a:cubicBezTo>
                    <a:pt x="45212" y="540766"/>
                    <a:pt x="0" y="495554"/>
                    <a:pt x="0" y="439801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553466" cy="553466"/>
            </a:xfrm>
            <a:custGeom>
              <a:avLst/>
              <a:gdLst/>
              <a:ahLst/>
              <a:cxnLst/>
              <a:rect l="l" t="t" r="r" b="b"/>
              <a:pathLst>
                <a:path w="553466" h="553466">
                  <a:moveTo>
                    <a:pt x="0" y="107315"/>
                  </a:moveTo>
                  <a:cubicBezTo>
                    <a:pt x="0" y="48006"/>
                    <a:pt x="48006" y="0"/>
                    <a:pt x="107315" y="0"/>
                  </a:cubicBezTo>
                  <a:lnTo>
                    <a:pt x="446151" y="0"/>
                  </a:lnTo>
                  <a:lnTo>
                    <a:pt x="446151" y="6350"/>
                  </a:lnTo>
                  <a:lnTo>
                    <a:pt x="446151" y="0"/>
                  </a:lnTo>
                  <a:cubicBezTo>
                    <a:pt x="505460" y="0"/>
                    <a:pt x="553466" y="48006"/>
                    <a:pt x="553466" y="107315"/>
                  </a:cubicBezTo>
                  <a:lnTo>
                    <a:pt x="553466" y="446151"/>
                  </a:lnTo>
                  <a:lnTo>
                    <a:pt x="547116" y="446151"/>
                  </a:lnTo>
                  <a:lnTo>
                    <a:pt x="553466" y="446151"/>
                  </a:lnTo>
                  <a:cubicBezTo>
                    <a:pt x="553466" y="505460"/>
                    <a:pt x="505460" y="553466"/>
                    <a:pt x="446151" y="553466"/>
                  </a:cubicBezTo>
                  <a:lnTo>
                    <a:pt x="446151" y="547116"/>
                  </a:lnTo>
                  <a:lnTo>
                    <a:pt x="446151" y="553466"/>
                  </a:lnTo>
                  <a:lnTo>
                    <a:pt x="107315" y="553466"/>
                  </a:lnTo>
                  <a:lnTo>
                    <a:pt x="107315" y="547116"/>
                  </a:lnTo>
                  <a:lnTo>
                    <a:pt x="107315" y="553466"/>
                  </a:lnTo>
                  <a:cubicBezTo>
                    <a:pt x="48006" y="553466"/>
                    <a:pt x="0" y="505460"/>
                    <a:pt x="0" y="446151"/>
                  </a:cubicBezTo>
                  <a:lnTo>
                    <a:pt x="0" y="107315"/>
                  </a:lnTo>
                  <a:lnTo>
                    <a:pt x="6350" y="107315"/>
                  </a:lnTo>
                  <a:lnTo>
                    <a:pt x="0" y="107315"/>
                  </a:lnTo>
                  <a:moveTo>
                    <a:pt x="12700" y="107315"/>
                  </a:moveTo>
                  <a:lnTo>
                    <a:pt x="12700" y="446151"/>
                  </a:lnTo>
                  <a:lnTo>
                    <a:pt x="6350" y="446151"/>
                  </a:lnTo>
                  <a:lnTo>
                    <a:pt x="12700" y="446151"/>
                  </a:lnTo>
                  <a:cubicBezTo>
                    <a:pt x="12700" y="498348"/>
                    <a:pt x="55118" y="540766"/>
                    <a:pt x="107315" y="540766"/>
                  </a:cubicBezTo>
                  <a:lnTo>
                    <a:pt x="446151" y="540766"/>
                  </a:lnTo>
                  <a:cubicBezTo>
                    <a:pt x="498348" y="540766"/>
                    <a:pt x="540766" y="498348"/>
                    <a:pt x="540766" y="446151"/>
                  </a:cubicBezTo>
                  <a:lnTo>
                    <a:pt x="540766" y="107315"/>
                  </a:lnTo>
                  <a:lnTo>
                    <a:pt x="547116" y="107315"/>
                  </a:lnTo>
                  <a:lnTo>
                    <a:pt x="540766" y="107315"/>
                  </a:lnTo>
                  <a:cubicBezTo>
                    <a:pt x="540766" y="55118"/>
                    <a:pt x="498348" y="12700"/>
                    <a:pt x="446151" y="12700"/>
                  </a:cubicBezTo>
                  <a:lnTo>
                    <a:pt x="107315" y="12700"/>
                  </a:lnTo>
                  <a:lnTo>
                    <a:pt x="107315" y="6350"/>
                  </a:lnTo>
                  <a:lnTo>
                    <a:pt x="107315" y="12700"/>
                  </a:lnTo>
                  <a:cubicBezTo>
                    <a:pt x="55118" y="12700"/>
                    <a:pt x="12700" y="55118"/>
                    <a:pt x="12700" y="107315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556445" y="2482602"/>
            <a:ext cx="3492401" cy="29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Manual Screening Bottlenecks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6445" y="2896791"/>
            <a:ext cx="7367736" cy="633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Traditional resume screening is inherently </a:t>
            </a:r>
            <a:r>
              <a:rPr lang="en-US" sz="1375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slow, subjective</a:t>
            </a: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, and struggles to scale with high application volumes, leading to missed opportunities and recruiter burnout.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65895" y="3886200"/>
            <a:ext cx="415081" cy="415081"/>
            <a:chOff x="0" y="0"/>
            <a:chExt cx="553442" cy="553442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540766" cy="540766"/>
            </a:xfrm>
            <a:custGeom>
              <a:avLst/>
              <a:gdLst/>
              <a:ahLst/>
              <a:cxnLst/>
              <a:rect l="l" t="t" r="r" b="b"/>
              <a:pathLst>
                <a:path w="540766" h="540766">
                  <a:moveTo>
                    <a:pt x="0" y="100965"/>
                  </a:moveTo>
                  <a:cubicBezTo>
                    <a:pt x="0" y="45212"/>
                    <a:pt x="45212" y="0"/>
                    <a:pt x="100965" y="0"/>
                  </a:cubicBezTo>
                  <a:lnTo>
                    <a:pt x="439801" y="0"/>
                  </a:lnTo>
                  <a:cubicBezTo>
                    <a:pt x="495554" y="0"/>
                    <a:pt x="540766" y="45212"/>
                    <a:pt x="540766" y="100965"/>
                  </a:cubicBezTo>
                  <a:lnTo>
                    <a:pt x="540766" y="439801"/>
                  </a:lnTo>
                  <a:cubicBezTo>
                    <a:pt x="540766" y="495554"/>
                    <a:pt x="495554" y="540766"/>
                    <a:pt x="439801" y="540766"/>
                  </a:cubicBezTo>
                  <a:lnTo>
                    <a:pt x="100965" y="540766"/>
                  </a:lnTo>
                  <a:cubicBezTo>
                    <a:pt x="45212" y="540766"/>
                    <a:pt x="0" y="495554"/>
                    <a:pt x="0" y="439801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553466" cy="553466"/>
            </a:xfrm>
            <a:custGeom>
              <a:avLst/>
              <a:gdLst/>
              <a:ahLst/>
              <a:cxnLst/>
              <a:rect l="l" t="t" r="r" b="b"/>
              <a:pathLst>
                <a:path w="553466" h="553466">
                  <a:moveTo>
                    <a:pt x="0" y="107315"/>
                  </a:moveTo>
                  <a:cubicBezTo>
                    <a:pt x="0" y="48006"/>
                    <a:pt x="48006" y="0"/>
                    <a:pt x="107315" y="0"/>
                  </a:cubicBezTo>
                  <a:lnTo>
                    <a:pt x="446151" y="0"/>
                  </a:lnTo>
                  <a:lnTo>
                    <a:pt x="446151" y="6350"/>
                  </a:lnTo>
                  <a:lnTo>
                    <a:pt x="446151" y="0"/>
                  </a:lnTo>
                  <a:cubicBezTo>
                    <a:pt x="505460" y="0"/>
                    <a:pt x="553466" y="48006"/>
                    <a:pt x="553466" y="107315"/>
                  </a:cubicBezTo>
                  <a:lnTo>
                    <a:pt x="553466" y="446151"/>
                  </a:lnTo>
                  <a:lnTo>
                    <a:pt x="547116" y="446151"/>
                  </a:lnTo>
                  <a:lnTo>
                    <a:pt x="553466" y="446151"/>
                  </a:lnTo>
                  <a:cubicBezTo>
                    <a:pt x="553466" y="505460"/>
                    <a:pt x="505460" y="553466"/>
                    <a:pt x="446151" y="553466"/>
                  </a:cubicBezTo>
                  <a:lnTo>
                    <a:pt x="446151" y="547116"/>
                  </a:lnTo>
                  <a:lnTo>
                    <a:pt x="446151" y="553466"/>
                  </a:lnTo>
                  <a:lnTo>
                    <a:pt x="107315" y="553466"/>
                  </a:lnTo>
                  <a:lnTo>
                    <a:pt x="107315" y="547116"/>
                  </a:lnTo>
                  <a:lnTo>
                    <a:pt x="107315" y="553466"/>
                  </a:lnTo>
                  <a:cubicBezTo>
                    <a:pt x="48006" y="553466"/>
                    <a:pt x="0" y="505460"/>
                    <a:pt x="0" y="446151"/>
                  </a:cubicBezTo>
                  <a:lnTo>
                    <a:pt x="0" y="107315"/>
                  </a:lnTo>
                  <a:lnTo>
                    <a:pt x="6350" y="107315"/>
                  </a:lnTo>
                  <a:lnTo>
                    <a:pt x="0" y="107315"/>
                  </a:lnTo>
                  <a:moveTo>
                    <a:pt x="12700" y="107315"/>
                  </a:moveTo>
                  <a:lnTo>
                    <a:pt x="12700" y="446151"/>
                  </a:lnTo>
                  <a:lnTo>
                    <a:pt x="6350" y="446151"/>
                  </a:lnTo>
                  <a:lnTo>
                    <a:pt x="12700" y="446151"/>
                  </a:lnTo>
                  <a:cubicBezTo>
                    <a:pt x="12700" y="498348"/>
                    <a:pt x="55118" y="540766"/>
                    <a:pt x="107315" y="540766"/>
                  </a:cubicBezTo>
                  <a:lnTo>
                    <a:pt x="446151" y="540766"/>
                  </a:lnTo>
                  <a:cubicBezTo>
                    <a:pt x="498348" y="540766"/>
                    <a:pt x="540766" y="498348"/>
                    <a:pt x="540766" y="446151"/>
                  </a:cubicBezTo>
                  <a:lnTo>
                    <a:pt x="540766" y="107315"/>
                  </a:lnTo>
                  <a:lnTo>
                    <a:pt x="547116" y="107315"/>
                  </a:lnTo>
                  <a:lnTo>
                    <a:pt x="540766" y="107315"/>
                  </a:lnTo>
                  <a:cubicBezTo>
                    <a:pt x="540766" y="55118"/>
                    <a:pt x="498348" y="12700"/>
                    <a:pt x="446151" y="12700"/>
                  </a:cubicBezTo>
                  <a:lnTo>
                    <a:pt x="107315" y="12700"/>
                  </a:lnTo>
                  <a:lnTo>
                    <a:pt x="107315" y="6350"/>
                  </a:lnTo>
                  <a:lnTo>
                    <a:pt x="107315" y="12700"/>
                  </a:lnTo>
                  <a:cubicBezTo>
                    <a:pt x="55118" y="12700"/>
                    <a:pt x="12700" y="55118"/>
                    <a:pt x="12700" y="107315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556445" y="3943350"/>
            <a:ext cx="3279725" cy="29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Error-Prone Data Extraction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56445" y="4357539"/>
            <a:ext cx="7367736" cy="633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Extracting crucial skills and experience from diverse resume formats (e.g., PDFs, plain text) is </a:t>
            </a:r>
            <a:r>
              <a:rPr lang="en-US" sz="1375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labor-intensive</a:t>
            </a: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and often results in errors, reducing data accuracy.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73344" y="1767334"/>
            <a:ext cx="3605807" cy="46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Objectives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73344" y="2373065"/>
            <a:ext cx="405574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 dirty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01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373344" y="2717452"/>
            <a:ext cx="7953524" cy="19050"/>
            <a:chOff x="0" y="0"/>
            <a:chExt cx="10604698" cy="25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04754" cy="25400"/>
            </a:xfrm>
            <a:custGeom>
              <a:avLst/>
              <a:gdLst/>
              <a:ahLst/>
              <a:cxnLst/>
              <a:rect l="l" t="t" r="r" b="b"/>
              <a:pathLst>
                <a:path w="10604754" h="25400">
                  <a:moveTo>
                    <a:pt x="0" y="0"/>
                  </a:moveTo>
                  <a:lnTo>
                    <a:pt x="10604754" y="0"/>
                  </a:lnTo>
                  <a:lnTo>
                    <a:pt x="1060475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9373344" y="2836069"/>
            <a:ext cx="3463527" cy="29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Intelligent Candidate Ranking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73344" y="3250257"/>
            <a:ext cx="7953524" cy="633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Develop an ML-backed system to </a:t>
            </a:r>
            <a:r>
              <a:rPr lang="en-US" sz="1375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accurately rank candidates</a:t>
            </a: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against specific job descriptions, enhancing relevance and efficiency.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73344" y="4228355"/>
            <a:ext cx="405574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 dirty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02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373344" y="4486572"/>
            <a:ext cx="7953524" cy="19050"/>
            <a:chOff x="0" y="0"/>
            <a:chExt cx="10604698" cy="25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604754" cy="25400"/>
            </a:xfrm>
            <a:custGeom>
              <a:avLst/>
              <a:gdLst/>
              <a:ahLst/>
              <a:cxnLst/>
              <a:rect l="l" t="t" r="r" b="b"/>
              <a:pathLst>
                <a:path w="10604754" h="25400">
                  <a:moveTo>
                    <a:pt x="0" y="0"/>
                  </a:moveTo>
                  <a:lnTo>
                    <a:pt x="10604754" y="0"/>
                  </a:lnTo>
                  <a:lnTo>
                    <a:pt x="1060475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9373344" y="4605189"/>
            <a:ext cx="3077765" cy="291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Confidence-Based Scoring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73344" y="5019377"/>
            <a:ext cx="7953524" cy="633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Predict resume categories with </a:t>
            </a:r>
            <a:r>
              <a:rPr lang="en-US" sz="1375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measurable confidence</a:t>
            </a: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and compute a comprehensive composite fit score, providing clear insights into candidate suitability.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73344" y="5997474"/>
            <a:ext cx="405574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 dirty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03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373344" y="6255692"/>
            <a:ext cx="7953524" cy="19050"/>
            <a:chOff x="0" y="0"/>
            <a:chExt cx="10604698" cy="25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604754" cy="25400"/>
            </a:xfrm>
            <a:custGeom>
              <a:avLst/>
              <a:gdLst/>
              <a:ahLst/>
              <a:cxnLst/>
              <a:rect l="l" t="t" r="r" b="b"/>
              <a:pathLst>
                <a:path w="10604754" h="25400">
                  <a:moveTo>
                    <a:pt x="0" y="0"/>
                  </a:moveTo>
                  <a:lnTo>
                    <a:pt x="10604754" y="0"/>
                  </a:lnTo>
                  <a:lnTo>
                    <a:pt x="1060475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9373344" y="6374309"/>
            <a:ext cx="2253555" cy="29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Actionable Insights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73344" y="6788497"/>
            <a:ext cx="7953524" cy="633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Surface matched skills, inferred experience, project signals, and provide </a:t>
            </a:r>
            <a:r>
              <a:rPr lang="en-US" sz="1375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intelligent role suggestions</a:t>
            </a: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to inform hiring decisions.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73344" y="7794724"/>
            <a:ext cx="304056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 dirty="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04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373344" y="8024812"/>
            <a:ext cx="7953524" cy="19050"/>
            <a:chOff x="0" y="0"/>
            <a:chExt cx="10604698" cy="25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604754" cy="25400"/>
            </a:xfrm>
            <a:custGeom>
              <a:avLst/>
              <a:gdLst/>
              <a:ahLst/>
              <a:cxnLst/>
              <a:rect l="l" t="t" r="r" b="b"/>
              <a:pathLst>
                <a:path w="10604754" h="25400">
                  <a:moveTo>
                    <a:pt x="0" y="0"/>
                  </a:moveTo>
                  <a:lnTo>
                    <a:pt x="10604754" y="0"/>
                  </a:lnTo>
                  <a:lnTo>
                    <a:pt x="1060475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9373344" y="8143429"/>
            <a:ext cx="2666851" cy="29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Intuitive Web Interface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73344" y="8557617"/>
            <a:ext cx="7953524" cy="633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Deliver a user-friendly web interface for recruiters to </a:t>
            </a:r>
            <a:r>
              <a:rPr lang="en-US" sz="1375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easily upload resumes</a:t>
            </a: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and view dynamically ranked results, streamlining their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49226" y="726728"/>
            <a:ext cx="6823174" cy="5287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7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AI-Powered Workflow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949226" y="1649165"/>
            <a:ext cx="881360" cy="1057721"/>
            <a:chOff x="0" y="0"/>
            <a:chExt cx="1175147" cy="1410295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175131" cy="1410335"/>
            </a:xfrm>
            <a:custGeom>
              <a:avLst/>
              <a:gdLst/>
              <a:ahLst/>
              <a:cxnLst/>
              <a:rect l="l" t="t" r="r" b="b"/>
              <a:pathLst>
                <a:path w="1175131" h="1410335">
                  <a:moveTo>
                    <a:pt x="0" y="0"/>
                  </a:moveTo>
                  <a:lnTo>
                    <a:pt x="1175131" y="0"/>
                  </a:lnTo>
                  <a:lnTo>
                    <a:pt x="1175131" y="1410335"/>
                  </a:lnTo>
                  <a:lnTo>
                    <a:pt x="0" y="1410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4" r="-275" b="2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006799" y="1815852"/>
            <a:ext cx="2203698" cy="285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UI: Upload &amp; Input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6799" y="2158901"/>
            <a:ext cx="15331976" cy="32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Seamlessly upload resumes (PDF/TXT) and paste job descriptions via an intuitive web interface.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949226" y="2706886"/>
            <a:ext cx="881360" cy="1057721"/>
            <a:chOff x="0" y="0"/>
            <a:chExt cx="1175147" cy="1410295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175131" cy="1410335"/>
            </a:xfrm>
            <a:custGeom>
              <a:avLst/>
              <a:gdLst/>
              <a:ahLst/>
              <a:cxnLst/>
              <a:rect l="l" t="t" r="r" b="b"/>
              <a:pathLst>
                <a:path w="1175131" h="1410335">
                  <a:moveTo>
                    <a:pt x="0" y="0"/>
                  </a:moveTo>
                  <a:lnTo>
                    <a:pt x="1175131" y="0"/>
                  </a:lnTo>
                  <a:lnTo>
                    <a:pt x="1175131" y="1410335"/>
                  </a:lnTo>
                  <a:lnTo>
                    <a:pt x="0" y="1410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4" r="-275" b="2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2006799" y="2873574"/>
            <a:ext cx="2909144" cy="285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Ingestion: Text Extraction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06799" y="3216623"/>
            <a:ext cx="15331976" cy="32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Robustly extract text from various resume formats, primarily PDFs, ensuring all relevant information is captured.</a:t>
            </a: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949226" y="3764607"/>
            <a:ext cx="881360" cy="1057721"/>
            <a:chOff x="0" y="0"/>
            <a:chExt cx="1175147" cy="1410295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175131" cy="1410335"/>
            </a:xfrm>
            <a:custGeom>
              <a:avLst/>
              <a:gdLst/>
              <a:ahLst/>
              <a:cxnLst/>
              <a:rect l="l" t="t" r="r" b="b"/>
              <a:pathLst>
                <a:path w="1175131" h="1410335">
                  <a:moveTo>
                    <a:pt x="0" y="0"/>
                  </a:moveTo>
                  <a:lnTo>
                    <a:pt x="1175131" y="0"/>
                  </a:lnTo>
                  <a:lnTo>
                    <a:pt x="1175131" y="1410335"/>
                  </a:lnTo>
                  <a:lnTo>
                    <a:pt x="0" y="1410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4" r="-275" b="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2006799" y="3931295"/>
            <a:ext cx="2473821" cy="285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Vectorization: TF-IDF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06799" y="4274344"/>
            <a:ext cx="15331976" cy="32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Transform extracted text into numerical vectors using TF-IDF, preparing data for machine learning models.</a:t>
            </a:r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949226" y="4822329"/>
            <a:ext cx="881360" cy="1057721"/>
            <a:chOff x="0" y="0"/>
            <a:chExt cx="1175147" cy="1410295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175131" cy="1410335"/>
            </a:xfrm>
            <a:custGeom>
              <a:avLst/>
              <a:gdLst/>
              <a:ahLst/>
              <a:cxnLst/>
              <a:rect l="l" t="t" r="r" b="b"/>
              <a:pathLst>
                <a:path w="1175131" h="1410335">
                  <a:moveTo>
                    <a:pt x="0" y="0"/>
                  </a:moveTo>
                  <a:lnTo>
                    <a:pt x="1175131" y="0"/>
                  </a:lnTo>
                  <a:lnTo>
                    <a:pt x="1175131" y="1410335"/>
                  </a:lnTo>
                  <a:lnTo>
                    <a:pt x="0" y="1410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74" r="-275" b="2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2006799" y="4989016"/>
            <a:ext cx="4288185" cy="285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Classification: Category &amp; Confidence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06799" y="5332065"/>
            <a:ext cx="15331976" cy="32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Predict the resume's primary category and associated confidence level using a trained ML classifier.</a:t>
            </a:r>
          </a:p>
        </p:txBody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949226" y="5880050"/>
            <a:ext cx="881360" cy="1057721"/>
            <a:chOff x="0" y="0"/>
            <a:chExt cx="1175147" cy="1410295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1175131" cy="1410335"/>
            </a:xfrm>
            <a:custGeom>
              <a:avLst/>
              <a:gdLst/>
              <a:ahLst/>
              <a:cxnLst/>
              <a:rect l="l" t="t" r="r" b="b"/>
              <a:pathLst>
                <a:path w="1175131" h="1410335">
                  <a:moveTo>
                    <a:pt x="0" y="0"/>
                  </a:moveTo>
                  <a:lnTo>
                    <a:pt x="1175131" y="0"/>
                  </a:lnTo>
                  <a:lnTo>
                    <a:pt x="1175131" y="1410335"/>
                  </a:lnTo>
                  <a:lnTo>
                    <a:pt x="0" y="1410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74" r="-275" b="2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2006799" y="6046737"/>
            <a:ext cx="2491979" cy="285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Heuristics: Fit Scoring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06799" y="6389786"/>
            <a:ext cx="15331976" cy="32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Compute a comprehensive fit score based on skill overlap, inferred experience, and project signals.</a:t>
            </a:r>
          </a:p>
        </p:txBody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949226" y="6937772"/>
            <a:ext cx="881360" cy="1057721"/>
            <a:chOff x="0" y="0"/>
            <a:chExt cx="1175147" cy="1410295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1175131" cy="1410335"/>
            </a:xfrm>
            <a:custGeom>
              <a:avLst/>
              <a:gdLst/>
              <a:ahLst/>
              <a:cxnLst/>
              <a:rect l="l" t="t" r="r" b="b"/>
              <a:pathLst>
                <a:path w="1175131" h="1410335">
                  <a:moveTo>
                    <a:pt x="0" y="0"/>
                  </a:moveTo>
                  <a:lnTo>
                    <a:pt x="1175131" y="0"/>
                  </a:lnTo>
                  <a:lnTo>
                    <a:pt x="1175131" y="1410335"/>
                  </a:lnTo>
                  <a:lnTo>
                    <a:pt x="0" y="1410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74" r="-275" b="2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2006799" y="7104460"/>
            <a:ext cx="2203698" cy="285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Role Suggestions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06799" y="7447509"/>
            <a:ext cx="15331976" cy="32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Leverage extracted skills to suggest highly relevant job roles, expanding recruitment possibilities.</a:t>
            </a:r>
          </a:p>
        </p:txBody>
      </p: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949226" y="7995494"/>
            <a:ext cx="881360" cy="1057721"/>
            <a:chOff x="0" y="0"/>
            <a:chExt cx="1175147" cy="1410295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1175131" cy="1410335"/>
            </a:xfrm>
            <a:custGeom>
              <a:avLst/>
              <a:gdLst/>
              <a:ahLst/>
              <a:cxnLst/>
              <a:rect l="l" t="t" r="r" b="b"/>
              <a:pathLst>
                <a:path w="1175131" h="1410335">
                  <a:moveTo>
                    <a:pt x="0" y="0"/>
                  </a:moveTo>
                  <a:lnTo>
                    <a:pt x="1175131" y="0"/>
                  </a:lnTo>
                  <a:lnTo>
                    <a:pt x="1175131" y="1410335"/>
                  </a:lnTo>
                  <a:lnTo>
                    <a:pt x="0" y="1410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74" r="-275" b="2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2006799" y="8162181"/>
            <a:ext cx="2329160" cy="285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Ranking &amp; Response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06799" y="8505230"/>
            <a:ext cx="15331976" cy="32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Rank candidates by fit score and present detailed results in the UI for efficient decision-making.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9226" y="9203829"/>
            <a:ext cx="16389549" cy="348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API Endpoints:</a:t>
            </a: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GET / renders dashboard; POST /analyze processes resumes and returns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8" y="1052512"/>
            <a:ext cx="10486876" cy="7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&amp; Methodological Foundations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328267"/>
            <a:ext cx="4536430" cy="58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074491"/>
            <a:ext cx="7875091" cy="115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Labeled Resume Corpus:</a:t>
            </a: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 comprehensive dataset of categorized resumes (e.g., Data Scientist, Web Developer) for model training and validation.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242346"/>
            <a:ext cx="7875091" cy="115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Dynamic Job Descriptions:</a:t>
            </a: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Real-world job descriptions are used at inference to perform skill overlap analysis and calculate the overall candidate fit score.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30196" y="2328267"/>
            <a:ext cx="4536430" cy="58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Methodology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30196" y="3074491"/>
            <a:ext cx="7875091" cy="80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Preprocessing:</a:t>
            </a: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Includes meticulous text cleaning, normalization, and robust PDF text extraction using PyPDF2.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30196" y="3889027"/>
            <a:ext cx="7875091" cy="80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 Engineering:</a:t>
            </a: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Utilizes TF-IDF n-grams for text representation and extracts specific skill tokens from a curated SKILL_DB.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30196" y="4703564"/>
            <a:ext cx="7875091" cy="81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Modeling:</a:t>
            </a: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 scikit-learn classifier is trained and serialized as resume_classifier_model.pkl for efficient loading.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30196" y="5527625"/>
            <a:ext cx="7875091" cy="80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Probability Calibration:</a:t>
            </a: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Leverages predict_proba for reliable confidence scores in classification outcomes.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30196" y="6342161"/>
            <a:ext cx="7875091" cy="115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Heuristic Scoring:</a:t>
            </a: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 weighted scoring system (Skill Match: 40%, Experience Proxies: 30%, Project Signals: 30%) determines candidate fit.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30196" y="7510016"/>
            <a:ext cx="7875091" cy="81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Artifact Management:</a:t>
            </a: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tfidf_vectorizer.pkl and resume_classifier_model.pkl are loaded at startup for immediate use.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30196" y="8334077"/>
            <a:ext cx="7875091" cy="80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Reproducibility:</a:t>
            </a: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Training assets like train_model.py and resume.ipynb ensure transparent and verifiable model development.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8" y="866180"/>
            <a:ext cx="6025009" cy="77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Technology Stack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044005"/>
            <a:ext cx="1630352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Our solution is built upon a modern and efficient technology stack, ensuring robustness and scalability.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992238" y="2776686"/>
            <a:ext cx="723007" cy="723007"/>
          </a:xfrm>
          <a:custGeom>
            <a:avLst/>
            <a:gdLst/>
            <a:ahLst/>
            <a:cxnLst/>
            <a:rect l="l" t="t" r="r" b="b"/>
            <a:pathLst>
              <a:path w="723007" h="723007">
                <a:moveTo>
                  <a:pt x="0" y="0"/>
                </a:moveTo>
                <a:lnTo>
                  <a:pt x="723007" y="0"/>
                </a:lnTo>
                <a:lnTo>
                  <a:pt x="723007" y="723008"/>
                </a:lnTo>
                <a:lnTo>
                  <a:pt x="0" y="723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947" r="-394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16472" y="2970460"/>
            <a:ext cx="3012430" cy="38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Backend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6472" y="3424832"/>
            <a:ext cx="6976914" cy="123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Flask</a:t>
            </a: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provides the web framework for API routing and handling requests, complemented by </a:t>
            </a:r>
            <a:r>
              <a:rPr lang="en-US" sz="1874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flask-cors</a:t>
            </a: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for cross-origin resource sharing.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294614" y="2776686"/>
            <a:ext cx="723008" cy="723007"/>
          </a:xfrm>
          <a:custGeom>
            <a:avLst/>
            <a:gdLst/>
            <a:ahLst/>
            <a:cxnLst/>
            <a:rect l="l" t="t" r="r" b="b"/>
            <a:pathLst>
              <a:path w="723008" h="723007">
                <a:moveTo>
                  <a:pt x="0" y="0"/>
                </a:moveTo>
                <a:lnTo>
                  <a:pt x="723007" y="0"/>
                </a:lnTo>
                <a:lnTo>
                  <a:pt x="723007" y="723008"/>
                </a:lnTo>
                <a:lnTo>
                  <a:pt x="0" y="7230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57" r="-657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318849" y="2970460"/>
            <a:ext cx="3012430" cy="38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Machine Learning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18849" y="3424832"/>
            <a:ext cx="6976914" cy="123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scikit-learn</a:t>
            </a: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is central for TF-IDF vectorization and classification, alongside </a:t>
            </a:r>
            <a:r>
              <a:rPr lang="en-US" sz="1874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numpy</a:t>
            </a: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for numerical operations and </a:t>
            </a:r>
            <a:r>
              <a:rPr lang="en-US" sz="1874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pandas</a:t>
            </a: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for data manipulation.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992238" y="5139332"/>
            <a:ext cx="723007" cy="723007"/>
          </a:xfrm>
          <a:custGeom>
            <a:avLst/>
            <a:gdLst/>
            <a:ahLst/>
            <a:cxnLst/>
            <a:rect l="l" t="t" r="r" b="b"/>
            <a:pathLst>
              <a:path w="723007" h="723007">
                <a:moveTo>
                  <a:pt x="0" y="0"/>
                </a:moveTo>
                <a:lnTo>
                  <a:pt x="723007" y="0"/>
                </a:lnTo>
                <a:lnTo>
                  <a:pt x="723007" y="723008"/>
                </a:lnTo>
                <a:lnTo>
                  <a:pt x="0" y="723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1842" b="-11842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016472" y="5333107"/>
            <a:ext cx="3012430" cy="38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PDF Extraction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16472" y="5787479"/>
            <a:ext cx="6976914" cy="123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PyPDF2</a:t>
            </a: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is utilized for reliable and efficient text extraction from PDF documents, enabling comprehensive resume processing.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9294614" y="5139332"/>
            <a:ext cx="723008" cy="723007"/>
          </a:xfrm>
          <a:custGeom>
            <a:avLst/>
            <a:gdLst/>
            <a:ahLst/>
            <a:cxnLst/>
            <a:rect l="l" t="t" r="r" b="b"/>
            <a:pathLst>
              <a:path w="723008" h="723007">
                <a:moveTo>
                  <a:pt x="0" y="0"/>
                </a:moveTo>
                <a:lnTo>
                  <a:pt x="723007" y="0"/>
                </a:lnTo>
                <a:lnTo>
                  <a:pt x="723007" y="723008"/>
                </a:lnTo>
                <a:lnTo>
                  <a:pt x="0" y="7230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973" r="-1973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318849" y="5333107"/>
            <a:ext cx="3012430" cy="38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Frontend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8849" y="5787479"/>
            <a:ext cx="6976914" cy="123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The user interface is developed using standard web technologies: </a:t>
            </a:r>
            <a:r>
              <a:rPr lang="en-US" sz="1874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HTML, CSS, and JavaScript</a:t>
            </a: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, ensuring a responsive and intuitive user experience.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992238" y="7501979"/>
            <a:ext cx="723007" cy="723008"/>
          </a:xfrm>
          <a:custGeom>
            <a:avLst/>
            <a:gdLst/>
            <a:ahLst/>
            <a:cxnLst/>
            <a:rect l="l" t="t" r="r" b="b"/>
            <a:pathLst>
              <a:path w="723007" h="723008">
                <a:moveTo>
                  <a:pt x="0" y="0"/>
                </a:moveTo>
                <a:lnTo>
                  <a:pt x="723007" y="0"/>
                </a:lnTo>
                <a:lnTo>
                  <a:pt x="723007" y="723007"/>
                </a:lnTo>
                <a:lnTo>
                  <a:pt x="0" y="7230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7236" b="-7236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016472" y="7695754"/>
            <a:ext cx="3012430" cy="38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Runtime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16472" y="8150126"/>
            <a:ext cx="6976914" cy="84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The entire system runs on </a:t>
            </a:r>
            <a:r>
              <a:rPr lang="en-US" sz="1874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Python</a:t>
            </a: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with a local development server accessible at </a:t>
            </a:r>
            <a:r>
              <a:rPr lang="en-US" sz="1874" u="sng">
                <a:solidFill>
                  <a:srgbClr val="AB8421"/>
                </a:solidFill>
                <a:latin typeface="DM Sans"/>
                <a:ea typeface="DM Sans"/>
                <a:cs typeface="DM Sans"/>
                <a:sym typeface="DM Sans"/>
                <a:hlinkClick r:id="rId14" tooltip="http://127.0.0.1:5000/"/>
              </a:rPr>
              <a:t>http://127.0.0.1:5000/</a:t>
            </a: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23" name="Freeform 23" descr="preencoded.png"/>
          <p:cNvSpPr/>
          <p:nvPr/>
        </p:nvSpPr>
        <p:spPr>
          <a:xfrm>
            <a:off x="9294614" y="7501979"/>
            <a:ext cx="723008" cy="723008"/>
          </a:xfrm>
          <a:custGeom>
            <a:avLst/>
            <a:gdLst/>
            <a:ahLst/>
            <a:cxnLst/>
            <a:rect l="l" t="t" r="r" b="b"/>
            <a:pathLst>
              <a:path w="723008" h="723008">
                <a:moveTo>
                  <a:pt x="0" y="0"/>
                </a:moveTo>
                <a:lnTo>
                  <a:pt x="723007" y="0"/>
                </a:lnTo>
                <a:lnTo>
                  <a:pt x="723007" y="723007"/>
                </a:lnTo>
                <a:lnTo>
                  <a:pt x="0" y="72300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t="-5263" b="-5263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318849" y="7695754"/>
            <a:ext cx="3012430" cy="38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Artifacts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18849" y="8150126"/>
            <a:ext cx="6976914" cy="125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Essential serialized models include resume_classifier_model.pkl and tfidf_vectorizer.pkl, loaded at application startup for immediate processing.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8" y="1305520"/>
            <a:ext cx="8913762" cy="849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Results &amp; Insights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909739"/>
            <a:ext cx="5983040" cy="7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Outputs Per Resume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825776"/>
            <a:ext cx="780588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Category &amp; Confidence: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Clearly identified resume category with a confidence score.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832151"/>
            <a:ext cx="780588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Fit Score &amp; Rank: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 composite fit score and relative ranking against the job description.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5838527"/>
            <a:ext cx="780588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Skill Matching: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Highlighted matched skills against the job description and all detected skills.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6844904"/>
            <a:ext cx="780588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Inferred Experience: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Estimated years of experience and project count.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7851279"/>
            <a:ext cx="780588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Suggested Roles: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AI-driven suggestions for relevant job roles with corresponding scores.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401" y="2909739"/>
            <a:ext cx="5670649" cy="7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Observations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401" y="3825776"/>
            <a:ext cx="7805886" cy="14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Prioritization: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The fit score and role suggestions significantly streamline candidate prioritization, enhancing recruiter efficiency.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9401" y="5285780"/>
            <a:ext cx="7805886" cy="14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Guided Decisions: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Confidence scores provide crucial guidance when resume categories are borderline, reducing ambiguity.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401" y="6745784"/>
            <a:ext cx="7805886" cy="14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Performance: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The current keyword-based approach offers rapid processing, with potential for further accuracy improvements via semantic methods.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8" y="1077218"/>
            <a:ext cx="9523362" cy="763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User Interface at a Glance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327821"/>
            <a:ext cx="16303526" cy="484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Our intuitive web interface provides a comprehensive overview and detailed insights into candidate evaluations.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7475" y="3094584"/>
            <a:ext cx="8033742" cy="2927597"/>
            <a:chOff x="0" y="0"/>
            <a:chExt cx="10711657" cy="3903463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10698988" cy="3890772"/>
            </a:xfrm>
            <a:custGeom>
              <a:avLst/>
              <a:gdLst/>
              <a:ahLst/>
              <a:cxnLst/>
              <a:rect l="l" t="t" r="r" b="b"/>
              <a:pathLst>
                <a:path w="10698988" h="3890772">
                  <a:moveTo>
                    <a:pt x="0" y="142875"/>
                  </a:moveTo>
                  <a:cubicBezTo>
                    <a:pt x="0" y="64008"/>
                    <a:pt x="64135" y="0"/>
                    <a:pt x="143256" y="0"/>
                  </a:cubicBezTo>
                  <a:lnTo>
                    <a:pt x="10555732" y="0"/>
                  </a:lnTo>
                  <a:cubicBezTo>
                    <a:pt x="10634852" y="0"/>
                    <a:pt x="10698988" y="64008"/>
                    <a:pt x="10698988" y="142875"/>
                  </a:cubicBezTo>
                  <a:lnTo>
                    <a:pt x="10698988" y="3747897"/>
                  </a:lnTo>
                  <a:cubicBezTo>
                    <a:pt x="10698988" y="3826764"/>
                    <a:pt x="10634852" y="3890772"/>
                    <a:pt x="10555732" y="3890772"/>
                  </a:cubicBezTo>
                  <a:lnTo>
                    <a:pt x="143256" y="3890772"/>
                  </a:lnTo>
                  <a:cubicBezTo>
                    <a:pt x="64135" y="3890772"/>
                    <a:pt x="0" y="3826764"/>
                    <a:pt x="0" y="3747897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0711688" cy="3903472"/>
            </a:xfrm>
            <a:custGeom>
              <a:avLst/>
              <a:gdLst/>
              <a:ahLst/>
              <a:cxnLst/>
              <a:rect l="l" t="t" r="r" b="b"/>
              <a:pathLst>
                <a:path w="10711688" h="3903472">
                  <a:moveTo>
                    <a:pt x="0" y="149225"/>
                  </a:moveTo>
                  <a:cubicBezTo>
                    <a:pt x="0" y="66802"/>
                    <a:pt x="66929" y="0"/>
                    <a:pt x="149606" y="0"/>
                  </a:cubicBezTo>
                  <a:lnTo>
                    <a:pt x="10562082" y="0"/>
                  </a:lnTo>
                  <a:lnTo>
                    <a:pt x="10562082" y="6350"/>
                  </a:lnTo>
                  <a:lnTo>
                    <a:pt x="10562082" y="0"/>
                  </a:lnTo>
                  <a:cubicBezTo>
                    <a:pt x="10644632" y="0"/>
                    <a:pt x="10711688" y="66802"/>
                    <a:pt x="10711688" y="149225"/>
                  </a:cubicBezTo>
                  <a:lnTo>
                    <a:pt x="10705338" y="149225"/>
                  </a:lnTo>
                  <a:lnTo>
                    <a:pt x="10711688" y="149225"/>
                  </a:lnTo>
                  <a:lnTo>
                    <a:pt x="10711688" y="3754247"/>
                  </a:lnTo>
                  <a:lnTo>
                    <a:pt x="10705338" y="3754247"/>
                  </a:lnTo>
                  <a:lnTo>
                    <a:pt x="10711688" y="3754247"/>
                  </a:lnTo>
                  <a:cubicBezTo>
                    <a:pt x="10711688" y="3836670"/>
                    <a:pt x="10644759" y="3903472"/>
                    <a:pt x="10562082" y="3903472"/>
                  </a:cubicBezTo>
                  <a:lnTo>
                    <a:pt x="10562082" y="3897122"/>
                  </a:lnTo>
                  <a:lnTo>
                    <a:pt x="10562082" y="3903472"/>
                  </a:lnTo>
                  <a:lnTo>
                    <a:pt x="149606" y="3903472"/>
                  </a:lnTo>
                  <a:lnTo>
                    <a:pt x="149606" y="3897122"/>
                  </a:lnTo>
                  <a:lnTo>
                    <a:pt x="149606" y="3903472"/>
                  </a:lnTo>
                  <a:cubicBezTo>
                    <a:pt x="66929" y="3903472"/>
                    <a:pt x="0" y="3836670"/>
                    <a:pt x="0" y="3754247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3754247"/>
                  </a:lnTo>
                  <a:lnTo>
                    <a:pt x="6350" y="3754247"/>
                  </a:lnTo>
                  <a:lnTo>
                    <a:pt x="12700" y="3754247"/>
                  </a:lnTo>
                  <a:cubicBezTo>
                    <a:pt x="12700" y="3829685"/>
                    <a:pt x="73914" y="3890772"/>
                    <a:pt x="149606" y="3890772"/>
                  </a:cubicBezTo>
                  <a:lnTo>
                    <a:pt x="10562082" y="3890772"/>
                  </a:lnTo>
                  <a:cubicBezTo>
                    <a:pt x="10637647" y="3890772"/>
                    <a:pt x="10698988" y="3829558"/>
                    <a:pt x="10698988" y="3754247"/>
                  </a:cubicBezTo>
                  <a:lnTo>
                    <a:pt x="10698988" y="149225"/>
                  </a:lnTo>
                  <a:cubicBezTo>
                    <a:pt x="10698988" y="73914"/>
                    <a:pt x="10637647" y="12700"/>
                    <a:pt x="10562082" y="12700"/>
                  </a:cubicBezTo>
                  <a:lnTo>
                    <a:pt x="149606" y="12700"/>
                  </a:lnTo>
                  <a:lnTo>
                    <a:pt x="149606" y="6350"/>
                  </a:lnTo>
                  <a:lnTo>
                    <a:pt x="149606" y="12700"/>
                  </a:lnTo>
                  <a:cubicBezTo>
                    <a:pt x="73914" y="12700"/>
                    <a:pt x="12700" y="73914"/>
                    <a:pt x="12700" y="149225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56854" y="3363962"/>
            <a:ext cx="765422" cy="765422"/>
            <a:chOff x="0" y="0"/>
            <a:chExt cx="1020563" cy="1020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0572" cy="1020572"/>
            </a:xfrm>
            <a:custGeom>
              <a:avLst/>
              <a:gdLst/>
              <a:ahLst/>
              <a:cxnLst/>
              <a:rect l="l" t="t" r="r" b="b"/>
              <a:pathLst>
                <a:path w="1020572" h="1020572">
                  <a:moveTo>
                    <a:pt x="0" y="510286"/>
                  </a:moveTo>
                  <a:cubicBezTo>
                    <a:pt x="0" y="228473"/>
                    <a:pt x="228473" y="0"/>
                    <a:pt x="510286" y="0"/>
                  </a:cubicBezTo>
                  <a:cubicBezTo>
                    <a:pt x="792099" y="0"/>
                    <a:pt x="1020572" y="228473"/>
                    <a:pt x="1020572" y="510286"/>
                  </a:cubicBezTo>
                  <a:cubicBezTo>
                    <a:pt x="1020572" y="792099"/>
                    <a:pt x="792099" y="1020572"/>
                    <a:pt x="510286" y="1020572"/>
                  </a:cubicBezTo>
                  <a:cubicBezTo>
                    <a:pt x="228473" y="1020572"/>
                    <a:pt x="0" y="792099"/>
                    <a:pt x="0" y="510286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3" name="Freeform 13" descr="preencoded.png"/>
          <p:cNvSpPr/>
          <p:nvPr/>
        </p:nvSpPr>
        <p:spPr>
          <a:xfrm>
            <a:off x="1467296" y="3574405"/>
            <a:ext cx="344389" cy="344389"/>
          </a:xfrm>
          <a:custGeom>
            <a:avLst/>
            <a:gdLst/>
            <a:ahLst/>
            <a:cxnLst/>
            <a:rect l="l" t="t" r="r" b="b"/>
            <a:pathLst>
              <a:path w="344389" h="344389">
                <a:moveTo>
                  <a:pt x="0" y="0"/>
                </a:moveTo>
                <a:lnTo>
                  <a:pt x="344389" y="0"/>
                </a:lnTo>
                <a:lnTo>
                  <a:pt x="344389" y="344389"/>
                </a:lnTo>
                <a:lnTo>
                  <a:pt x="0" y="3443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351" r="-1351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56854" y="4365426"/>
            <a:ext cx="3189685" cy="41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Overall Summary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6854" y="4859834"/>
            <a:ext cx="7494984" cy="89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Displays the best-matched candidate and the average fit score across all uploaded resumes.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66784" y="3094584"/>
            <a:ext cx="8033743" cy="2927597"/>
            <a:chOff x="0" y="0"/>
            <a:chExt cx="10711657" cy="3903463"/>
          </a:xfrm>
        </p:grpSpPr>
        <p:sp>
          <p:nvSpPr>
            <p:cNvPr id="17" name="Freeform 17"/>
            <p:cNvSpPr/>
            <p:nvPr/>
          </p:nvSpPr>
          <p:spPr>
            <a:xfrm>
              <a:off x="6350" y="6350"/>
              <a:ext cx="10698988" cy="3890772"/>
            </a:xfrm>
            <a:custGeom>
              <a:avLst/>
              <a:gdLst/>
              <a:ahLst/>
              <a:cxnLst/>
              <a:rect l="l" t="t" r="r" b="b"/>
              <a:pathLst>
                <a:path w="10698988" h="3890772">
                  <a:moveTo>
                    <a:pt x="0" y="142875"/>
                  </a:moveTo>
                  <a:cubicBezTo>
                    <a:pt x="0" y="64008"/>
                    <a:pt x="64135" y="0"/>
                    <a:pt x="143256" y="0"/>
                  </a:cubicBezTo>
                  <a:lnTo>
                    <a:pt x="10555732" y="0"/>
                  </a:lnTo>
                  <a:cubicBezTo>
                    <a:pt x="10634852" y="0"/>
                    <a:pt x="10698988" y="64008"/>
                    <a:pt x="10698988" y="142875"/>
                  </a:cubicBezTo>
                  <a:lnTo>
                    <a:pt x="10698988" y="3747897"/>
                  </a:lnTo>
                  <a:cubicBezTo>
                    <a:pt x="10698988" y="3826764"/>
                    <a:pt x="10634852" y="3890772"/>
                    <a:pt x="10555732" y="3890772"/>
                  </a:cubicBezTo>
                  <a:lnTo>
                    <a:pt x="143256" y="3890772"/>
                  </a:lnTo>
                  <a:cubicBezTo>
                    <a:pt x="64135" y="3890772"/>
                    <a:pt x="0" y="3826764"/>
                    <a:pt x="0" y="3747897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0711688" cy="3903472"/>
            </a:xfrm>
            <a:custGeom>
              <a:avLst/>
              <a:gdLst/>
              <a:ahLst/>
              <a:cxnLst/>
              <a:rect l="l" t="t" r="r" b="b"/>
              <a:pathLst>
                <a:path w="10711688" h="3903472">
                  <a:moveTo>
                    <a:pt x="0" y="149225"/>
                  </a:moveTo>
                  <a:cubicBezTo>
                    <a:pt x="0" y="66802"/>
                    <a:pt x="66929" y="0"/>
                    <a:pt x="149606" y="0"/>
                  </a:cubicBezTo>
                  <a:lnTo>
                    <a:pt x="10562082" y="0"/>
                  </a:lnTo>
                  <a:lnTo>
                    <a:pt x="10562082" y="6350"/>
                  </a:lnTo>
                  <a:lnTo>
                    <a:pt x="10562082" y="0"/>
                  </a:lnTo>
                  <a:cubicBezTo>
                    <a:pt x="10644632" y="0"/>
                    <a:pt x="10711688" y="66802"/>
                    <a:pt x="10711688" y="149225"/>
                  </a:cubicBezTo>
                  <a:lnTo>
                    <a:pt x="10705338" y="149225"/>
                  </a:lnTo>
                  <a:lnTo>
                    <a:pt x="10711688" y="149225"/>
                  </a:lnTo>
                  <a:lnTo>
                    <a:pt x="10711688" y="3754247"/>
                  </a:lnTo>
                  <a:lnTo>
                    <a:pt x="10705338" y="3754247"/>
                  </a:lnTo>
                  <a:lnTo>
                    <a:pt x="10711688" y="3754247"/>
                  </a:lnTo>
                  <a:cubicBezTo>
                    <a:pt x="10711688" y="3836670"/>
                    <a:pt x="10644759" y="3903472"/>
                    <a:pt x="10562082" y="3903472"/>
                  </a:cubicBezTo>
                  <a:lnTo>
                    <a:pt x="10562082" y="3897122"/>
                  </a:lnTo>
                  <a:lnTo>
                    <a:pt x="10562082" y="3903472"/>
                  </a:lnTo>
                  <a:lnTo>
                    <a:pt x="149606" y="3903472"/>
                  </a:lnTo>
                  <a:lnTo>
                    <a:pt x="149606" y="3897122"/>
                  </a:lnTo>
                  <a:lnTo>
                    <a:pt x="149606" y="3903472"/>
                  </a:lnTo>
                  <a:cubicBezTo>
                    <a:pt x="66929" y="3903472"/>
                    <a:pt x="0" y="3836670"/>
                    <a:pt x="0" y="3754247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3754247"/>
                  </a:lnTo>
                  <a:lnTo>
                    <a:pt x="6350" y="3754247"/>
                  </a:lnTo>
                  <a:lnTo>
                    <a:pt x="12700" y="3754247"/>
                  </a:lnTo>
                  <a:cubicBezTo>
                    <a:pt x="12700" y="3829685"/>
                    <a:pt x="73914" y="3890772"/>
                    <a:pt x="149606" y="3890772"/>
                  </a:cubicBezTo>
                  <a:lnTo>
                    <a:pt x="10562082" y="3890772"/>
                  </a:lnTo>
                  <a:cubicBezTo>
                    <a:pt x="10637647" y="3890772"/>
                    <a:pt x="10698988" y="3829558"/>
                    <a:pt x="10698988" y="3754247"/>
                  </a:cubicBezTo>
                  <a:lnTo>
                    <a:pt x="10698988" y="149225"/>
                  </a:lnTo>
                  <a:cubicBezTo>
                    <a:pt x="10698988" y="73914"/>
                    <a:pt x="10637647" y="12700"/>
                    <a:pt x="10562082" y="12700"/>
                  </a:cubicBezTo>
                  <a:lnTo>
                    <a:pt x="149606" y="12700"/>
                  </a:lnTo>
                  <a:lnTo>
                    <a:pt x="149606" y="6350"/>
                  </a:lnTo>
                  <a:lnTo>
                    <a:pt x="149606" y="12700"/>
                  </a:lnTo>
                  <a:cubicBezTo>
                    <a:pt x="73914" y="12700"/>
                    <a:pt x="12700" y="73914"/>
                    <a:pt x="12700" y="149225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536162" y="3363962"/>
            <a:ext cx="765423" cy="765422"/>
            <a:chOff x="0" y="0"/>
            <a:chExt cx="1020563" cy="102056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0572" cy="1020572"/>
            </a:xfrm>
            <a:custGeom>
              <a:avLst/>
              <a:gdLst/>
              <a:ahLst/>
              <a:cxnLst/>
              <a:rect l="l" t="t" r="r" b="b"/>
              <a:pathLst>
                <a:path w="1020572" h="1020572">
                  <a:moveTo>
                    <a:pt x="0" y="510286"/>
                  </a:moveTo>
                  <a:cubicBezTo>
                    <a:pt x="0" y="228473"/>
                    <a:pt x="228473" y="0"/>
                    <a:pt x="510286" y="0"/>
                  </a:cubicBezTo>
                  <a:cubicBezTo>
                    <a:pt x="792099" y="0"/>
                    <a:pt x="1020572" y="228473"/>
                    <a:pt x="1020572" y="510286"/>
                  </a:cubicBezTo>
                  <a:cubicBezTo>
                    <a:pt x="1020572" y="792099"/>
                    <a:pt x="792099" y="1020572"/>
                    <a:pt x="510286" y="1020572"/>
                  </a:cubicBezTo>
                  <a:cubicBezTo>
                    <a:pt x="228473" y="1020572"/>
                    <a:pt x="0" y="792099"/>
                    <a:pt x="0" y="510286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1" name="Freeform 21" descr="preencoded.png"/>
          <p:cNvSpPr/>
          <p:nvPr/>
        </p:nvSpPr>
        <p:spPr>
          <a:xfrm>
            <a:off x="9746605" y="3574405"/>
            <a:ext cx="344389" cy="344389"/>
          </a:xfrm>
          <a:custGeom>
            <a:avLst/>
            <a:gdLst/>
            <a:ahLst/>
            <a:cxnLst/>
            <a:rect l="l" t="t" r="r" b="b"/>
            <a:pathLst>
              <a:path w="344389" h="344389">
                <a:moveTo>
                  <a:pt x="0" y="0"/>
                </a:moveTo>
                <a:lnTo>
                  <a:pt x="344389" y="0"/>
                </a:lnTo>
                <a:lnTo>
                  <a:pt x="344389" y="344389"/>
                </a:lnTo>
                <a:lnTo>
                  <a:pt x="0" y="3443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0810" b="-10810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536162" y="4365426"/>
            <a:ext cx="4024759" cy="41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Ranked Candidate Cards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36162" y="4859834"/>
            <a:ext cx="7494984" cy="89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Presents individual candidate cards, each containing key metrics and a detailed breakdown of their fit.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87475" y="6267747"/>
            <a:ext cx="8033742" cy="2927597"/>
            <a:chOff x="0" y="0"/>
            <a:chExt cx="10711657" cy="3903463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10698988" cy="3890772"/>
            </a:xfrm>
            <a:custGeom>
              <a:avLst/>
              <a:gdLst/>
              <a:ahLst/>
              <a:cxnLst/>
              <a:rect l="l" t="t" r="r" b="b"/>
              <a:pathLst>
                <a:path w="10698988" h="3890772">
                  <a:moveTo>
                    <a:pt x="0" y="142875"/>
                  </a:moveTo>
                  <a:cubicBezTo>
                    <a:pt x="0" y="64008"/>
                    <a:pt x="64135" y="0"/>
                    <a:pt x="143256" y="0"/>
                  </a:cubicBezTo>
                  <a:lnTo>
                    <a:pt x="10555732" y="0"/>
                  </a:lnTo>
                  <a:cubicBezTo>
                    <a:pt x="10634852" y="0"/>
                    <a:pt x="10698988" y="64008"/>
                    <a:pt x="10698988" y="142875"/>
                  </a:cubicBezTo>
                  <a:lnTo>
                    <a:pt x="10698988" y="3747897"/>
                  </a:lnTo>
                  <a:cubicBezTo>
                    <a:pt x="10698988" y="3826764"/>
                    <a:pt x="10634852" y="3890772"/>
                    <a:pt x="10555732" y="3890772"/>
                  </a:cubicBezTo>
                  <a:lnTo>
                    <a:pt x="143256" y="3890772"/>
                  </a:lnTo>
                  <a:cubicBezTo>
                    <a:pt x="64135" y="3890772"/>
                    <a:pt x="0" y="3826764"/>
                    <a:pt x="0" y="3747897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10711688" cy="3903472"/>
            </a:xfrm>
            <a:custGeom>
              <a:avLst/>
              <a:gdLst/>
              <a:ahLst/>
              <a:cxnLst/>
              <a:rect l="l" t="t" r="r" b="b"/>
              <a:pathLst>
                <a:path w="10711688" h="3903472">
                  <a:moveTo>
                    <a:pt x="0" y="149225"/>
                  </a:moveTo>
                  <a:cubicBezTo>
                    <a:pt x="0" y="66802"/>
                    <a:pt x="66929" y="0"/>
                    <a:pt x="149606" y="0"/>
                  </a:cubicBezTo>
                  <a:lnTo>
                    <a:pt x="10562082" y="0"/>
                  </a:lnTo>
                  <a:lnTo>
                    <a:pt x="10562082" y="6350"/>
                  </a:lnTo>
                  <a:lnTo>
                    <a:pt x="10562082" y="0"/>
                  </a:lnTo>
                  <a:cubicBezTo>
                    <a:pt x="10644632" y="0"/>
                    <a:pt x="10711688" y="66802"/>
                    <a:pt x="10711688" y="149225"/>
                  </a:cubicBezTo>
                  <a:lnTo>
                    <a:pt x="10705338" y="149225"/>
                  </a:lnTo>
                  <a:lnTo>
                    <a:pt x="10711688" y="149225"/>
                  </a:lnTo>
                  <a:lnTo>
                    <a:pt x="10711688" y="3754247"/>
                  </a:lnTo>
                  <a:lnTo>
                    <a:pt x="10705338" y="3754247"/>
                  </a:lnTo>
                  <a:lnTo>
                    <a:pt x="10711688" y="3754247"/>
                  </a:lnTo>
                  <a:cubicBezTo>
                    <a:pt x="10711688" y="3836670"/>
                    <a:pt x="10644759" y="3903472"/>
                    <a:pt x="10562082" y="3903472"/>
                  </a:cubicBezTo>
                  <a:lnTo>
                    <a:pt x="10562082" y="3897122"/>
                  </a:lnTo>
                  <a:lnTo>
                    <a:pt x="10562082" y="3903472"/>
                  </a:lnTo>
                  <a:lnTo>
                    <a:pt x="149606" y="3903472"/>
                  </a:lnTo>
                  <a:lnTo>
                    <a:pt x="149606" y="3897122"/>
                  </a:lnTo>
                  <a:lnTo>
                    <a:pt x="149606" y="3903472"/>
                  </a:lnTo>
                  <a:cubicBezTo>
                    <a:pt x="66929" y="3903472"/>
                    <a:pt x="0" y="3836670"/>
                    <a:pt x="0" y="3754247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3754247"/>
                  </a:lnTo>
                  <a:lnTo>
                    <a:pt x="6350" y="3754247"/>
                  </a:lnTo>
                  <a:lnTo>
                    <a:pt x="12700" y="3754247"/>
                  </a:lnTo>
                  <a:cubicBezTo>
                    <a:pt x="12700" y="3829685"/>
                    <a:pt x="73914" y="3890772"/>
                    <a:pt x="149606" y="3890772"/>
                  </a:cubicBezTo>
                  <a:lnTo>
                    <a:pt x="10562082" y="3890772"/>
                  </a:lnTo>
                  <a:cubicBezTo>
                    <a:pt x="10637647" y="3890772"/>
                    <a:pt x="10698988" y="3829558"/>
                    <a:pt x="10698988" y="3754247"/>
                  </a:cubicBezTo>
                  <a:lnTo>
                    <a:pt x="10698988" y="149225"/>
                  </a:lnTo>
                  <a:cubicBezTo>
                    <a:pt x="10698988" y="73914"/>
                    <a:pt x="10637647" y="12700"/>
                    <a:pt x="10562082" y="12700"/>
                  </a:cubicBezTo>
                  <a:lnTo>
                    <a:pt x="149606" y="12700"/>
                  </a:lnTo>
                  <a:lnTo>
                    <a:pt x="149606" y="6350"/>
                  </a:lnTo>
                  <a:lnTo>
                    <a:pt x="149606" y="12700"/>
                  </a:lnTo>
                  <a:cubicBezTo>
                    <a:pt x="73914" y="12700"/>
                    <a:pt x="12700" y="73914"/>
                    <a:pt x="12700" y="149225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56854" y="6537126"/>
            <a:ext cx="765422" cy="765422"/>
            <a:chOff x="0" y="0"/>
            <a:chExt cx="1020563" cy="102056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20572" cy="1020572"/>
            </a:xfrm>
            <a:custGeom>
              <a:avLst/>
              <a:gdLst/>
              <a:ahLst/>
              <a:cxnLst/>
              <a:rect l="l" t="t" r="r" b="b"/>
              <a:pathLst>
                <a:path w="1020572" h="1020572">
                  <a:moveTo>
                    <a:pt x="0" y="510286"/>
                  </a:moveTo>
                  <a:cubicBezTo>
                    <a:pt x="0" y="228473"/>
                    <a:pt x="228473" y="0"/>
                    <a:pt x="510286" y="0"/>
                  </a:cubicBezTo>
                  <a:cubicBezTo>
                    <a:pt x="792099" y="0"/>
                    <a:pt x="1020572" y="228473"/>
                    <a:pt x="1020572" y="510286"/>
                  </a:cubicBezTo>
                  <a:cubicBezTo>
                    <a:pt x="1020572" y="792099"/>
                    <a:pt x="792099" y="1020572"/>
                    <a:pt x="510286" y="1020572"/>
                  </a:cubicBezTo>
                  <a:cubicBezTo>
                    <a:pt x="228473" y="1020572"/>
                    <a:pt x="0" y="792099"/>
                    <a:pt x="0" y="510286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9" name="Freeform 29" descr="preencoded.png"/>
          <p:cNvSpPr/>
          <p:nvPr/>
        </p:nvSpPr>
        <p:spPr>
          <a:xfrm>
            <a:off x="1467296" y="6747570"/>
            <a:ext cx="344389" cy="344389"/>
          </a:xfrm>
          <a:custGeom>
            <a:avLst/>
            <a:gdLst/>
            <a:ahLst/>
            <a:cxnLst/>
            <a:rect l="l" t="t" r="r" b="b"/>
            <a:pathLst>
              <a:path w="344389" h="344389">
                <a:moveTo>
                  <a:pt x="0" y="0"/>
                </a:moveTo>
                <a:lnTo>
                  <a:pt x="344389" y="0"/>
                </a:lnTo>
                <a:lnTo>
                  <a:pt x="344389" y="344389"/>
                </a:lnTo>
                <a:lnTo>
                  <a:pt x="0" y="3443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256854" y="7538591"/>
            <a:ext cx="3189685" cy="41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Visual Metrics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6854" y="8032997"/>
            <a:ext cx="7494984" cy="89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Offers clear visualizations of matched skills, inferred experience, and project signals, aiding quick assessment.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266784" y="6267747"/>
            <a:ext cx="8033743" cy="2927597"/>
            <a:chOff x="0" y="0"/>
            <a:chExt cx="10711657" cy="3903463"/>
          </a:xfrm>
        </p:grpSpPr>
        <p:sp>
          <p:nvSpPr>
            <p:cNvPr id="33" name="Freeform 33"/>
            <p:cNvSpPr/>
            <p:nvPr/>
          </p:nvSpPr>
          <p:spPr>
            <a:xfrm>
              <a:off x="6350" y="6350"/>
              <a:ext cx="10698988" cy="3890772"/>
            </a:xfrm>
            <a:custGeom>
              <a:avLst/>
              <a:gdLst/>
              <a:ahLst/>
              <a:cxnLst/>
              <a:rect l="l" t="t" r="r" b="b"/>
              <a:pathLst>
                <a:path w="10698988" h="3890772">
                  <a:moveTo>
                    <a:pt x="0" y="142875"/>
                  </a:moveTo>
                  <a:cubicBezTo>
                    <a:pt x="0" y="64008"/>
                    <a:pt x="64135" y="0"/>
                    <a:pt x="143256" y="0"/>
                  </a:cubicBezTo>
                  <a:lnTo>
                    <a:pt x="10555732" y="0"/>
                  </a:lnTo>
                  <a:cubicBezTo>
                    <a:pt x="10634852" y="0"/>
                    <a:pt x="10698988" y="64008"/>
                    <a:pt x="10698988" y="142875"/>
                  </a:cubicBezTo>
                  <a:lnTo>
                    <a:pt x="10698988" y="3747897"/>
                  </a:lnTo>
                  <a:cubicBezTo>
                    <a:pt x="10698988" y="3826764"/>
                    <a:pt x="10634852" y="3890772"/>
                    <a:pt x="10555732" y="3890772"/>
                  </a:cubicBezTo>
                  <a:lnTo>
                    <a:pt x="143256" y="3890772"/>
                  </a:lnTo>
                  <a:cubicBezTo>
                    <a:pt x="64135" y="3890772"/>
                    <a:pt x="0" y="3826764"/>
                    <a:pt x="0" y="3747897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10711688" cy="3903472"/>
            </a:xfrm>
            <a:custGeom>
              <a:avLst/>
              <a:gdLst/>
              <a:ahLst/>
              <a:cxnLst/>
              <a:rect l="l" t="t" r="r" b="b"/>
              <a:pathLst>
                <a:path w="10711688" h="3903472">
                  <a:moveTo>
                    <a:pt x="0" y="149225"/>
                  </a:moveTo>
                  <a:cubicBezTo>
                    <a:pt x="0" y="66802"/>
                    <a:pt x="66929" y="0"/>
                    <a:pt x="149606" y="0"/>
                  </a:cubicBezTo>
                  <a:lnTo>
                    <a:pt x="10562082" y="0"/>
                  </a:lnTo>
                  <a:lnTo>
                    <a:pt x="10562082" y="6350"/>
                  </a:lnTo>
                  <a:lnTo>
                    <a:pt x="10562082" y="0"/>
                  </a:lnTo>
                  <a:cubicBezTo>
                    <a:pt x="10644632" y="0"/>
                    <a:pt x="10711688" y="66802"/>
                    <a:pt x="10711688" y="149225"/>
                  </a:cubicBezTo>
                  <a:lnTo>
                    <a:pt x="10705338" y="149225"/>
                  </a:lnTo>
                  <a:lnTo>
                    <a:pt x="10711688" y="149225"/>
                  </a:lnTo>
                  <a:lnTo>
                    <a:pt x="10711688" y="3754247"/>
                  </a:lnTo>
                  <a:lnTo>
                    <a:pt x="10705338" y="3754247"/>
                  </a:lnTo>
                  <a:lnTo>
                    <a:pt x="10711688" y="3754247"/>
                  </a:lnTo>
                  <a:cubicBezTo>
                    <a:pt x="10711688" y="3836670"/>
                    <a:pt x="10644759" y="3903472"/>
                    <a:pt x="10562082" y="3903472"/>
                  </a:cubicBezTo>
                  <a:lnTo>
                    <a:pt x="10562082" y="3897122"/>
                  </a:lnTo>
                  <a:lnTo>
                    <a:pt x="10562082" y="3903472"/>
                  </a:lnTo>
                  <a:lnTo>
                    <a:pt x="149606" y="3903472"/>
                  </a:lnTo>
                  <a:lnTo>
                    <a:pt x="149606" y="3897122"/>
                  </a:lnTo>
                  <a:lnTo>
                    <a:pt x="149606" y="3903472"/>
                  </a:lnTo>
                  <a:cubicBezTo>
                    <a:pt x="66929" y="3903472"/>
                    <a:pt x="0" y="3836670"/>
                    <a:pt x="0" y="3754247"/>
                  </a:cubicBezTo>
                  <a:lnTo>
                    <a:pt x="0" y="149225"/>
                  </a:lnTo>
                  <a:lnTo>
                    <a:pt x="6350" y="149225"/>
                  </a:lnTo>
                  <a:lnTo>
                    <a:pt x="0" y="149225"/>
                  </a:lnTo>
                  <a:moveTo>
                    <a:pt x="12700" y="149225"/>
                  </a:moveTo>
                  <a:lnTo>
                    <a:pt x="12700" y="3754247"/>
                  </a:lnTo>
                  <a:lnTo>
                    <a:pt x="6350" y="3754247"/>
                  </a:lnTo>
                  <a:lnTo>
                    <a:pt x="12700" y="3754247"/>
                  </a:lnTo>
                  <a:cubicBezTo>
                    <a:pt x="12700" y="3829685"/>
                    <a:pt x="73914" y="3890772"/>
                    <a:pt x="149606" y="3890772"/>
                  </a:cubicBezTo>
                  <a:lnTo>
                    <a:pt x="10562082" y="3890772"/>
                  </a:lnTo>
                  <a:cubicBezTo>
                    <a:pt x="10637647" y="3890772"/>
                    <a:pt x="10698988" y="3829558"/>
                    <a:pt x="10698988" y="3754247"/>
                  </a:cubicBezTo>
                  <a:lnTo>
                    <a:pt x="10698988" y="149225"/>
                  </a:lnTo>
                  <a:cubicBezTo>
                    <a:pt x="10698988" y="73914"/>
                    <a:pt x="10637647" y="12700"/>
                    <a:pt x="10562082" y="12700"/>
                  </a:cubicBezTo>
                  <a:lnTo>
                    <a:pt x="149606" y="12700"/>
                  </a:lnTo>
                  <a:lnTo>
                    <a:pt x="149606" y="6350"/>
                  </a:lnTo>
                  <a:lnTo>
                    <a:pt x="149606" y="12700"/>
                  </a:lnTo>
                  <a:cubicBezTo>
                    <a:pt x="73914" y="12700"/>
                    <a:pt x="12700" y="73914"/>
                    <a:pt x="12700" y="149225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9536162" y="6537126"/>
            <a:ext cx="765423" cy="765422"/>
            <a:chOff x="0" y="0"/>
            <a:chExt cx="1020563" cy="102056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20572" cy="1020572"/>
            </a:xfrm>
            <a:custGeom>
              <a:avLst/>
              <a:gdLst/>
              <a:ahLst/>
              <a:cxnLst/>
              <a:rect l="l" t="t" r="r" b="b"/>
              <a:pathLst>
                <a:path w="1020572" h="1020572">
                  <a:moveTo>
                    <a:pt x="0" y="510286"/>
                  </a:moveTo>
                  <a:cubicBezTo>
                    <a:pt x="0" y="228473"/>
                    <a:pt x="228473" y="0"/>
                    <a:pt x="510286" y="0"/>
                  </a:cubicBezTo>
                  <a:cubicBezTo>
                    <a:pt x="792099" y="0"/>
                    <a:pt x="1020572" y="228473"/>
                    <a:pt x="1020572" y="510286"/>
                  </a:cubicBezTo>
                  <a:cubicBezTo>
                    <a:pt x="1020572" y="792099"/>
                    <a:pt x="792099" y="1020572"/>
                    <a:pt x="510286" y="1020572"/>
                  </a:cubicBezTo>
                  <a:cubicBezTo>
                    <a:pt x="228473" y="1020572"/>
                    <a:pt x="0" y="792099"/>
                    <a:pt x="0" y="510286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7" name="Freeform 37" descr="preencoded.png"/>
          <p:cNvSpPr/>
          <p:nvPr/>
        </p:nvSpPr>
        <p:spPr>
          <a:xfrm>
            <a:off x="9746605" y="6747570"/>
            <a:ext cx="344389" cy="344389"/>
          </a:xfrm>
          <a:custGeom>
            <a:avLst/>
            <a:gdLst/>
            <a:ahLst/>
            <a:cxnLst/>
            <a:rect l="l" t="t" r="r" b="b"/>
            <a:pathLst>
              <a:path w="344389" h="344389">
                <a:moveTo>
                  <a:pt x="0" y="0"/>
                </a:moveTo>
                <a:lnTo>
                  <a:pt x="344389" y="0"/>
                </a:lnTo>
                <a:lnTo>
                  <a:pt x="344389" y="344389"/>
                </a:lnTo>
                <a:lnTo>
                  <a:pt x="0" y="3443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054" r="-4054"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9536162" y="7538591"/>
            <a:ext cx="3189685" cy="41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Role Suggestions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36162" y="8032997"/>
            <a:ext cx="7494984" cy="89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Provides intelligent role suggestions with scores, expanding the recruiter's perspective beyond the initial job description.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882997" y="674638"/>
            <a:ext cx="6679406" cy="53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Conclusion &amp; Future Directions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2997" y="1596777"/>
            <a:ext cx="3279725" cy="429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Conclusion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78235" y="2205484"/>
            <a:ext cx="8070502" cy="1301055"/>
            <a:chOff x="0" y="0"/>
            <a:chExt cx="10760670" cy="1734740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10748010" cy="1721993"/>
            </a:xfrm>
            <a:custGeom>
              <a:avLst/>
              <a:gdLst/>
              <a:ahLst/>
              <a:cxnLst/>
              <a:rect l="l" t="t" r="r" b="b"/>
              <a:pathLst>
                <a:path w="10748010" h="1721993">
                  <a:moveTo>
                    <a:pt x="0" y="524764"/>
                  </a:moveTo>
                  <a:cubicBezTo>
                    <a:pt x="0" y="234950"/>
                    <a:pt x="236347" y="0"/>
                    <a:pt x="528066" y="0"/>
                  </a:cubicBezTo>
                  <a:lnTo>
                    <a:pt x="10219944" y="0"/>
                  </a:lnTo>
                  <a:cubicBezTo>
                    <a:pt x="10511536" y="0"/>
                    <a:pt x="10748010" y="234950"/>
                    <a:pt x="10748010" y="524764"/>
                  </a:cubicBezTo>
                  <a:lnTo>
                    <a:pt x="10748010" y="1197229"/>
                  </a:lnTo>
                  <a:cubicBezTo>
                    <a:pt x="10748010" y="1487043"/>
                    <a:pt x="10511663" y="1721993"/>
                    <a:pt x="10219944" y="1721993"/>
                  </a:cubicBezTo>
                  <a:lnTo>
                    <a:pt x="528066" y="1721993"/>
                  </a:lnTo>
                  <a:cubicBezTo>
                    <a:pt x="236347" y="1721993"/>
                    <a:pt x="0" y="1487043"/>
                    <a:pt x="0" y="1197229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0760710" cy="1734693"/>
            </a:xfrm>
            <a:custGeom>
              <a:avLst/>
              <a:gdLst/>
              <a:ahLst/>
              <a:cxnLst/>
              <a:rect l="l" t="t" r="r" b="b"/>
              <a:pathLst>
                <a:path w="10760710" h="1734693">
                  <a:moveTo>
                    <a:pt x="0" y="531114"/>
                  </a:moveTo>
                  <a:cubicBezTo>
                    <a:pt x="0" y="237744"/>
                    <a:pt x="239268" y="0"/>
                    <a:pt x="534416" y="0"/>
                  </a:cubicBezTo>
                  <a:lnTo>
                    <a:pt x="10226294" y="0"/>
                  </a:lnTo>
                  <a:lnTo>
                    <a:pt x="10226294" y="6350"/>
                  </a:lnTo>
                  <a:lnTo>
                    <a:pt x="10226294" y="0"/>
                  </a:lnTo>
                  <a:cubicBezTo>
                    <a:pt x="10521442" y="0"/>
                    <a:pt x="10760710" y="237744"/>
                    <a:pt x="10760710" y="531114"/>
                  </a:cubicBezTo>
                  <a:lnTo>
                    <a:pt x="10754360" y="531114"/>
                  </a:lnTo>
                  <a:lnTo>
                    <a:pt x="10760710" y="531114"/>
                  </a:lnTo>
                  <a:lnTo>
                    <a:pt x="10760710" y="1203579"/>
                  </a:lnTo>
                  <a:lnTo>
                    <a:pt x="10754360" y="1203579"/>
                  </a:lnTo>
                  <a:lnTo>
                    <a:pt x="10760710" y="1203579"/>
                  </a:lnTo>
                  <a:cubicBezTo>
                    <a:pt x="10760710" y="1496949"/>
                    <a:pt x="10521442" y="1734693"/>
                    <a:pt x="10226294" y="1734693"/>
                  </a:cubicBezTo>
                  <a:lnTo>
                    <a:pt x="10226294" y="1728343"/>
                  </a:lnTo>
                  <a:lnTo>
                    <a:pt x="10226294" y="1734693"/>
                  </a:lnTo>
                  <a:lnTo>
                    <a:pt x="534416" y="1734693"/>
                  </a:lnTo>
                  <a:lnTo>
                    <a:pt x="534416" y="1728343"/>
                  </a:lnTo>
                  <a:lnTo>
                    <a:pt x="534416" y="1734693"/>
                  </a:lnTo>
                  <a:cubicBezTo>
                    <a:pt x="239268" y="1734693"/>
                    <a:pt x="0" y="1496949"/>
                    <a:pt x="0" y="1203579"/>
                  </a:cubicBezTo>
                  <a:lnTo>
                    <a:pt x="0" y="531114"/>
                  </a:lnTo>
                  <a:lnTo>
                    <a:pt x="6350" y="531114"/>
                  </a:lnTo>
                  <a:lnTo>
                    <a:pt x="0" y="531114"/>
                  </a:lnTo>
                  <a:moveTo>
                    <a:pt x="12700" y="531114"/>
                  </a:moveTo>
                  <a:lnTo>
                    <a:pt x="12700" y="1203579"/>
                  </a:lnTo>
                  <a:lnTo>
                    <a:pt x="6350" y="1203579"/>
                  </a:lnTo>
                  <a:lnTo>
                    <a:pt x="12700" y="1203579"/>
                  </a:lnTo>
                  <a:cubicBezTo>
                    <a:pt x="12700" y="1489837"/>
                    <a:pt x="246253" y="1721993"/>
                    <a:pt x="534416" y="1721993"/>
                  </a:cubicBezTo>
                  <a:lnTo>
                    <a:pt x="10226294" y="1721993"/>
                  </a:lnTo>
                  <a:cubicBezTo>
                    <a:pt x="10514457" y="1721993"/>
                    <a:pt x="10748010" y="1489837"/>
                    <a:pt x="10748010" y="1203579"/>
                  </a:cubicBezTo>
                  <a:lnTo>
                    <a:pt x="10748010" y="531114"/>
                  </a:lnTo>
                  <a:cubicBezTo>
                    <a:pt x="10748010" y="244856"/>
                    <a:pt x="10514457" y="12700"/>
                    <a:pt x="10226294" y="12700"/>
                  </a:cubicBezTo>
                  <a:lnTo>
                    <a:pt x="534416" y="12700"/>
                  </a:lnTo>
                  <a:lnTo>
                    <a:pt x="534416" y="6350"/>
                  </a:lnTo>
                  <a:lnTo>
                    <a:pt x="534416" y="12700"/>
                  </a:lnTo>
                  <a:cubicBezTo>
                    <a:pt x="246253" y="12700"/>
                    <a:pt x="12700" y="244856"/>
                    <a:pt x="12700" y="531114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056382" y="2374106"/>
            <a:ext cx="2673102" cy="265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Streamlined Recruitment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6382" y="2746474"/>
            <a:ext cx="7714209" cy="58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Our Automated Resume Screening Studio significantly </a:t>
            </a:r>
            <a:r>
              <a:rPr lang="en-US" sz="124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streamlines the resume triage process</a:t>
            </a: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, providing recruiters with actionable insights to make informed hiring decisions.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78235" y="3660874"/>
            <a:ext cx="8070502" cy="1301055"/>
            <a:chOff x="0" y="0"/>
            <a:chExt cx="10760670" cy="1734740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10748010" cy="1721993"/>
            </a:xfrm>
            <a:custGeom>
              <a:avLst/>
              <a:gdLst/>
              <a:ahLst/>
              <a:cxnLst/>
              <a:rect l="l" t="t" r="r" b="b"/>
              <a:pathLst>
                <a:path w="10748010" h="1721993">
                  <a:moveTo>
                    <a:pt x="0" y="524764"/>
                  </a:moveTo>
                  <a:cubicBezTo>
                    <a:pt x="0" y="234950"/>
                    <a:pt x="236347" y="0"/>
                    <a:pt x="528066" y="0"/>
                  </a:cubicBezTo>
                  <a:lnTo>
                    <a:pt x="10219944" y="0"/>
                  </a:lnTo>
                  <a:cubicBezTo>
                    <a:pt x="10511536" y="0"/>
                    <a:pt x="10748010" y="234950"/>
                    <a:pt x="10748010" y="524764"/>
                  </a:cubicBezTo>
                  <a:lnTo>
                    <a:pt x="10748010" y="1197229"/>
                  </a:lnTo>
                  <a:cubicBezTo>
                    <a:pt x="10748010" y="1487043"/>
                    <a:pt x="10511663" y="1721993"/>
                    <a:pt x="10219944" y="1721993"/>
                  </a:cubicBezTo>
                  <a:lnTo>
                    <a:pt x="528066" y="1721993"/>
                  </a:lnTo>
                  <a:cubicBezTo>
                    <a:pt x="236347" y="1721993"/>
                    <a:pt x="0" y="1487043"/>
                    <a:pt x="0" y="1197229"/>
                  </a:cubicBezTo>
                  <a:close/>
                </a:path>
              </a:pathLst>
            </a:custGeom>
            <a:solidFill>
              <a:srgbClr val="F7EDD4"/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0760710" cy="1734693"/>
            </a:xfrm>
            <a:custGeom>
              <a:avLst/>
              <a:gdLst/>
              <a:ahLst/>
              <a:cxnLst/>
              <a:rect l="l" t="t" r="r" b="b"/>
              <a:pathLst>
                <a:path w="10760710" h="1734693">
                  <a:moveTo>
                    <a:pt x="0" y="531114"/>
                  </a:moveTo>
                  <a:cubicBezTo>
                    <a:pt x="0" y="237744"/>
                    <a:pt x="239268" y="0"/>
                    <a:pt x="534416" y="0"/>
                  </a:cubicBezTo>
                  <a:lnTo>
                    <a:pt x="10226294" y="0"/>
                  </a:lnTo>
                  <a:lnTo>
                    <a:pt x="10226294" y="6350"/>
                  </a:lnTo>
                  <a:lnTo>
                    <a:pt x="10226294" y="0"/>
                  </a:lnTo>
                  <a:cubicBezTo>
                    <a:pt x="10521442" y="0"/>
                    <a:pt x="10760710" y="237744"/>
                    <a:pt x="10760710" y="531114"/>
                  </a:cubicBezTo>
                  <a:lnTo>
                    <a:pt x="10754360" y="531114"/>
                  </a:lnTo>
                  <a:lnTo>
                    <a:pt x="10760710" y="531114"/>
                  </a:lnTo>
                  <a:lnTo>
                    <a:pt x="10760710" y="1203579"/>
                  </a:lnTo>
                  <a:lnTo>
                    <a:pt x="10754360" y="1203579"/>
                  </a:lnTo>
                  <a:lnTo>
                    <a:pt x="10760710" y="1203579"/>
                  </a:lnTo>
                  <a:cubicBezTo>
                    <a:pt x="10760710" y="1496949"/>
                    <a:pt x="10521442" y="1734693"/>
                    <a:pt x="10226294" y="1734693"/>
                  </a:cubicBezTo>
                  <a:lnTo>
                    <a:pt x="10226294" y="1728343"/>
                  </a:lnTo>
                  <a:lnTo>
                    <a:pt x="10226294" y="1734693"/>
                  </a:lnTo>
                  <a:lnTo>
                    <a:pt x="534416" y="1734693"/>
                  </a:lnTo>
                  <a:lnTo>
                    <a:pt x="534416" y="1728343"/>
                  </a:lnTo>
                  <a:lnTo>
                    <a:pt x="534416" y="1734693"/>
                  </a:lnTo>
                  <a:cubicBezTo>
                    <a:pt x="239268" y="1734693"/>
                    <a:pt x="0" y="1496949"/>
                    <a:pt x="0" y="1203579"/>
                  </a:cubicBezTo>
                  <a:lnTo>
                    <a:pt x="0" y="531114"/>
                  </a:lnTo>
                  <a:lnTo>
                    <a:pt x="6350" y="531114"/>
                  </a:lnTo>
                  <a:lnTo>
                    <a:pt x="0" y="531114"/>
                  </a:lnTo>
                  <a:moveTo>
                    <a:pt x="12700" y="531114"/>
                  </a:moveTo>
                  <a:lnTo>
                    <a:pt x="12700" y="1203579"/>
                  </a:lnTo>
                  <a:lnTo>
                    <a:pt x="6350" y="1203579"/>
                  </a:lnTo>
                  <a:lnTo>
                    <a:pt x="12700" y="1203579"/>
                  </a:lnTo>
                  <a:cubicBezTo>
                    <a:pt x="12700" y="1489837"/>
                    <a:pt x="246253" y="1721993"/>
                    <a:pt x="534416" y="1721993"/>
                  </a:cubicBezTo>
                  <a:lnTo>
                    <a:pt x="10226294" y="1721993"/>
                  </a:lnTo>
                  <a:cubicBezTo>
                    <a:pt x="10514457" y="1721993"/>
                    <a:pt x="10748010" y="1489837"/>
                    <a:pt x="10748010" y="1203579"/>
                  </a:cubicBezTo>
                  <a:lnTo>
                    <a:pt x="10748010" y="531114"/>
                  </a:lnTo>
                  <a:cubicBezTo>
                    <a:pt x="10748010" y="244856"/>
                    <a:pt x="10514457" y="12700"/>
                    <a:pt x="10226294" y="12700"/>
                  </a:cubicBezTo>
                  <a:lnTo>
                    <a:pt x="534416" y="12700"/>
                  </a:lnTo>
                  <a:lnTo>
                    <a:pt x="534416" y="6350"/>
                  </a:lnTo>
                  <a:lnTo>
                    <a:pt x="534416" y="12700"/>
                  </a:lnTo>
                  <a:cubicBezTo>
                    <a:pt x="246253" y="12700"/>
                    <a:pt x="12700" y="244856"/>
                    <a:pt x="12700" y="531114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056382" y="3829496"/>
            <a:ext cx="3028801" cy="265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Modular &amp; Adaptable Design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6382" y="4201865"/>
            <a:ext cx="7714209" cy="58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The system's modular architecture allows for </a:t>
            </a:r>
            <a:r>
              <a:rPr lang="en-US" sz="124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quick and efficient updates</a:t>
            </a: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to underlying ML models, skill databases, and scoring algorithms, ensuring continuous improvement.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53550" y="1596777"/>
            <a:ext cx="3279725" cy="429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 Scope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344025" y="2200721"/>
            <a:ext cx="8080027" cy="1329630"/>
            <a:chOff x="0" y="0"/>
            <a:chExt cx="10773370" cy="1772840"/>
          </a:xfrm>
        </p:grpSpPr>
        <p:sp>
          <p:nvSpPr>
            <p:cNvPr id="20" name="Freeform 20"/>
            <p:cNvSpPr/>
            <p:nvPr/>
          </p:nvSpPr>
          <p:spPr>
            <a:xfrm>
              <a:off x="12700" y="12700"/>
              <a:ext cx="10748010" cy="1747393"/>
            </a:xfrm>
            <a:custGeom>
              <a:avLst/>
              <a:gdLst/>
              <a:ahLst/>
              <a:cxnLst/>
              <a:rect l="l" t="t" r="r" b="b"/>
              <a:pathLst>
                <a:path w="10748010" h="1747393">
                  <a:moveTo>
                    <a:pt x="0" y="121920"/>
                  </a:moveTo>
                  <a:cubicBezTo>
                    <a:pt x="0" y="54610"/>
                    <a:pt x="55245" y="0"/>
                    <a:pt x="123444" y="0"/>
                  </a:cubicBezTo>
                  <a:lnTo>
                    <a:pt x="10624566" y="0"/>
                  </a:lnTo>
                  <a:cubicBezTo>
                    <a:pt x="10692765" y="0"/>
                    <a:pt x="10748010" y="54610"/>
                    <a:pt x="10748010" y="121920"/>
                  </a:cubicBezTo>
                  <a:lnTo>
                    <a:pt x="10748010" y="1625473"/>
                  </a:lnTo>
                  <a:cubicBezTo>
                    <a:pt x="10748010" y="1692783"/>
                    <a:pt x="10692765" y="1747393"/>
                    <a:pt x="10624566" y="1747393"/>
                  </a:cubicBezTo>
                  <a:lnTo>
                    <a:pt x="123444" y="1747393"/>
                  </a:lnTo>
                  <a:cubicBezTo>
                    <a:pt x="55245" y="1747393"/>
                    <a:pt x="0" y="1692783"/>
                    <a:pt x="0" y="1625473"/>
                  </a:cubicBez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10773410" cy="1772793"/>
            </a:xfrm>
            <a:custGeom>
              <a:avLst/>
              <a:gdLst/>
              <a:ahLst/>
              <a:cxnLst/>
              <a:rect l="l" t="t" r="r" b="b"/>
              <a:pathLst>
                <a:path w="10773410" h="1772793">
                  <a:moveTo>
                    <a:pt x="0" y="134620"/>
                  </a:moveTo>
                  <a:cubicBezTo>
                    <a:pt x="0" y="60071"/>
                    <a:pt x="61087" y="0"/>
                    <a:pt x="136144" y="0"/>
                  </a:cubicBezTo>
                  <a:lnTo>
                    <a:pt x="10637266" y="0"/>
                  </a:lnTo>
                  <a:lnTo>
                    <a:pt x="10637266" y="12700"/>
                  </a:lnTo>
                  <a:lnTo>
                    <a:pt x="10637266" y="0"/>
                  </a:lnTo>
                  <a:cubicBezTo>
                    <a:pt x="10712323" y="0"/>
                    <a:pt x="10773410" y="60071"/>
                    <a:pt x="10773410" y="134620"/>
                  </a:cubicBezTo>
                  <a:lnTo>
                    <a:pt x="10760710" y="134620"/>
                  </a:lnTo>
                  <a:lnTo>
                    <a:pt x="10773410" y="134620"/>
                  </a:lnTo>
                  <a:lnTo>
                    <a:pt x="10773410" y="1638173"/>
                  </a:lnTo>
                  <a:lnTo>
                    <a:pt x="10760710" y="1638173"/>
                  </a:lnTo>
                  <a:lnTo>
                    <a:pt x="10773410" y="1638173"/>
                  </a:lnTo>
                  <a:cubicBezTo>
                    <a:pt x="10773410" y="1712722"/>
                    <a:pt x="10712323" y="1772793"/>
                    <a:pt x="10637266" y="1772793"/>
                  </a:cubicBezTo>
                  <a:lnTo>
                    <a:pt x="10637266" y="1760093"/>
                  </a:lnTo>
                  <a:lnTo>
                    <a:pt x="10637266" y="1772793"/>
                  </a:lnTo>
                  <a:lnTo>
                    <a:pt x="136144" y="1772793"/>
                  </a:lnTo>
                  <a:lnTo>
                    <a:pt x="136144" y="1760093"/>
                  </a:lnTo>
                  <a:lnTo>
                    <a:pt x="136144" y="1772793"/>
                  </a:lnTo>
                  <a:cubicBezTo>
                    <a:pt x="61087" y="1772793"/>
                    <a:pt x="0" y="1712722"/>
                    <a:pt x="0" y="163817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638173"/>
                  </a:lnTo>
                  <a:lnTo>
                    <a:pt x="12700" y="1638173"/>
                  </a:lnTo>
                  <a:lnTo>
                    <a:pt x="25400" y="1638173"/>
                  </a:lnTo>
                  <a:cubicBezTo>
                    <a:pt x="25400" y="1698371"/>
                    <a:pt x="74803" y="1747393"/>
                    <a:pt x="136144" y="1747393"/>
                  </a:cubicBezTo>
                  <a:lnTo>
                    <a:pt x="10637266" y="1747393"/>
                  </a:lnTo>
                  <a:cubicBezTo>
                    <a:pt x="10698607" y="1747393"/>
                    <a:pt x="10748010" y="1698371"/>
                    <a:pt x="10748010" y="1638173"/>
                  </a:cubicBezTo>
                  <a:lnTo>
                    <a:pt x="10748010" y="134620"/>
                  </a:lnTo>
                  <a:cubicBezTo>
                    <a:pt x="10748010" y="74422"/>
                    <a:pt x="10698607" y="25400"/>
                    <a:pt x="10637266" y="25400"/>
                  </a:cubicBezTo>
                  <a:lnTo>
                    <a:pt x="136144" y="25400"/>
                  </a:lnTo>
                  <a:lnTo>
                    <a:pt x="136144" y="12700"/>
                  </a:lnTo>
                  <a:lnTo>
                    <a:pt x="136144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334500" y="2210246"/>
            <a:ext cx="76200" cy="1310580"/>
            <a:chOff x="0" y="0"/>
            <a:chExt cx="101600" cy="17474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1600" cy="1747393"/>
            </a:xfrm>
            <a:custGeom>
              <a:avLst/>
              <a:gdLst/>
              <a:ahLst/>
              <a:cxnLst/>
              <a:rect l="l" t="t" r="r" b="b"/>
              <a:pathLst>
                <a:path w="101600" h="1747393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696593"/>
                  </a:lnTo>
                  <a:cubicBezTo>
                    <a:pt x="101600" y="1724660"/>
                    <a:pt x="78867" y="1747393"/>
                    <a:pt x="50800" y="1747393"/>
                  </a:cubicBezTo>
                  <a:cubicBezTo>
                    <a:pt x="22733" y="1747393"/>
                    <a:pt x="0" y="1724660"/>
                    <a:pt x="0" y="1696593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9593610" y="2383631"/>
            <a:ext cx="2049810" cy="265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Semantic Matching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93610" y="2755999"/>
            <a:ext cx="7638009" cy="58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Integrate </a:t>
            </a:r>
            <a:r>
              <a:rPr lang="en-US" sz="124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semantic embeddings</a:t>
            </a: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(e.g., sentence transformers) for more nuanced JD-resume matching, moving beyond keyword-based analysis.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344025" y="3675161"/>
            <a:ext cx="8080027" cy="1329630"/>
            <a:chOff x="0" y="0"/>
            <a:chExt cx="10773370" cy="1772840"/>
          </a:xfrm>
        </p:grpSpPr>
        <p:sp>
          <p:nvSpPr>
            <p:cNvPr id="27" name="Freeform 27"/>
            <p:cNvSpPr/>
            <p:nvPr/>
          </p:nvSpPr>
          <p:spPr>
            <a:xfrm>
              <a:off x="12700" y="12700"/>
              <a:ext cx="10748010" cy="1747393"/>
            </a:xfrm>
            <a:custGeom>
              <a:avLst/>
              <a:gdLst/>
              <a:ahLst/>
              <a:cxnLst/>
              <a:rect l="l" t="t" r="r" b="b"/>
              <a:pathLst>
                <a:path w="10748010" h="1747393">
                  <a:moveTo>
                    <a:pt x="0" y="121920"/>
                  </a:moveTo>
                  <a:cubicBezTo>
                    <a:pt x="0" y="54610"/>
                    <a:pt x="55245" y="0"/>
                    <a:pt x="123444" y="0"/>
                  </a:cubicBezTo>
                  <a:lnTo>
                    <a:pt x="10624566" y="0"/>
                  </a:lnTo>
                  <a:cubicBezTo>
                    <a:pt x="10692765" y="0"/>
                    <a:pt x="10748010" y="54610"/>
                    <a:pt x="10748010" y="121920"/>
                  </a:cubicBezTo>
                  <a:lnTo>
                    <a:pt x="10748010" y="1625473"/>
                  </a:lnTo>
                  <a:cubicBezTo>
                    <a:pt x="10748010" y="1692783"/>
                    <a:pt x="10692765" y="1747393"/>
                    <a:pt x="10624566" y="1747393"/>
                  </a:cubicBezTo>
                  <a:lnTo>
                    <a:pt x="123444" y="1747393"/>
                  </a:lnTo>
                  <a:cubicBezTo>
                    <a:pt x="55245" y="1747393"/>
                    <a:pt x="0" y="1692783"/>
                    <a:pt x="0" y="1625473"/>
                  </a:cubicBez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10773410" cy="1772793"/>
            </a:xfrm>
            <a:custGeom>
              <a:avLst/>
              <a:gdLst/>
              <a:ahLst/>
              <a:cxnLst/>
              <a:rect l="l" t="t" r="r" b="b"/>
              <a:pathLst>
                <a:path w="10773410" h="1772793">
                  <a:moveTo>
                    <a:pt x="0" y="134620"/>
                  </a:moveTo>
                  <a:cubicBezTo>
                    <a:pt x="0" y="60071"/>
                    <a:pt x="61087" y="0"/>
                    <a:pt x="136144" y="0"/>
                  </a:cubicBezTo>
                  <a:lnTo>
                    <a:pt x="10637266" y="0"/>
                  </a:lnTo>
                  <a:lnTo>
                    <a:pt x="10637266" y="12700"/>
                  </a:lnTo>
                  <a:lnTo>
                    <a:pt x="10637266" y="0"/>
                  </a:lnTo>
                  <a:cubicBezTo>
                    <a:pt x="10712323" y="0"/>
                    <a:pt x="10773410" y="60071"/>
                    <a:pt x="10773410" y="134620"/>
                  </a:cubicBezTo>
                  <a:lnTo>
                    <a:pt x="10760710" y="134620"/>
                  </a:lnTo>
                  <a:lnTo>
                    <a:pt x="10773410" y="134620"/>
                  </a:lnTo>
                  <a:lnTo>
                    <a:pt x="10773410" y="1638173"/>
                  </a:lnTo>
                  <a:lnTo>
                    <a:pt x="10760710" y="1638173"/>
                  </a:lnTo>
                  <a:lnTo>
                    <a:pt x="10773410" y="1638173"/>
                  </a:lnTo>
                  <a:cubicBezTo>
                    <a:pt x="10773410" y="1712722"/>
                    <a:pt x="10712323" y="1772793"/>
                    <a:pt x="10637266" y="1772793"/>
                  </a:cubicBezTo>
                  <a:lnTo>
                    <a:pt x="10637266" y="1760093"/>
                  </a:lnTo>
                  <a:lnTo>
                    <a:pt x="10637266" y="1772793"/>
                  </a:lnTo>
                  <a:lnTo>
                    <a:pt x="136144" y="1772793"/>
                  </a:lnTo>
                  <a:lnTo>
                    <a:pt x="136144" y="1760093"/>
                  </a:lnTo>
                  <a:lnTo>
                    <a:pt x="136144" y="1772793"/>
                  </a:lnTo>
                  <a:cubicBezTo>
                    <a:pt x="61087" y="1772793"/>
                    <a:pt x="0" y="1712722"/>
                    <a:pt x="0" y="163817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638173"/>
                  </a:lnTo>
                  <a:lnTo>
                    <a:pt x="12700" y="1638173"/>
                  </a:lnTo>
                  <a:lnTo>
                    <a:pt x="25400" y="1638173"/>
                  </a:lnTo>
                  <a:cubicBezTo>
                    <a:pt x="25400" y="1698371"/>
                    <a:pt x="74803" y="1747393"/>
                    <a:pt x="136144" y="1747393"/>
                  </a:cubicBezTo>
                  <a:lnTo>
                    <a:pt x="10637266" y="1747393"/>
                  </a:lnTo>
                  <a:cubicBezTo>
                    <a:pt x="10698607" y="1747393"/>
                    <a:pt x="10748010" y="1698371"/>
                    <a:pt x="10748010" y="1638173"/>
                  </a:cubicBezTo>
                  <a:lnTo>
                    <a:pt x="10748010" y="134620"/>
                  </a:lnTo>
                  <a:cubicBezTo>
                    <a:pt x="10748010" y="74422"/>
                    <a:pt x="10698607" y="25400"/>
                    <a:pt x="10637266" y="25400"/>
                  </a:cubicBezTo>
                  <a:lnTo>
                    <a:pt x="136144" y="25400"/>
                  </a:lnTo>
                  <a:lnTo>
                    <a:pt x="136144" y="12700"/>
                  </a:lnTo>
                  <a:lnTo>
                    <a:pt x="136144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334500" y="3684686"/>
            <a:ext cx="76200" cy="1310580"/>
            <a:chOff x="0" y="0"/>
            <a:chExt cx="101600" cy="17474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600" cy="1747393"/>
            </a:xfrm>
            <a:custGeom>
              <a:avLst/>
              <a:gdLst/>
              <a:ahLst/>
              <a:cxnLst/>
              <a:rect l="l" t="t" r="r" b="b"/>
              <a:pathLst>
                <a:path w="101600" h="1747393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696593"/>
                  </a:lnTo>
                  <a:cubicBezTo>
                    <a:pt x="101600" y="1724660"/>
                    <a:pt x="78867" y="1747393"/>
                    <a:pt x="50800" y="1747393"/>
                  </a:cubicBezTo>
                  <a:cubicBezTo>
                    <a:pt x="22733" y="1747393"/>
                    <a:pt x="0" y="1724660"/>
                    <a:pt x="0" y="1696593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9593610" y="3858071"/>
            <a:ext cx="2618185" cy="265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Advanced Data Handling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93610" y="4230440"/>
            <a:ext cx="7638009" cy="581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Implement </a:t>
            </a:r>
            <a:r>
              <a:rPr lang="en-US" sz="124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OCR for scanned PDFs</a:t>
            </a: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and expand to </a:t>
            </a:r>
            <a:r>
              <a:rPr lang="en-US" sz="124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multilingual support</a:t>
            </a: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to broaden application usability.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344025" y="5149602"/>
            <a:ext cx="8080027" cy="1329630"/>
            <a:chOff x="0" y="0"/>
            <a:chExt cx="10773370" cy="1772840"/>
          </a:xfrm>
        </p:grpSpPr>
        <p:sp>
          <p:nvSpPr>
            <p:cNvPr id="34" name="Freeform 34"/>
            <p:cNvSpPr/>
            <p:nvPr/>
          </p:nvSpPr>
          <p:spPr>
            <a:xfrm>
              <a:off x="12700" y="12700"/>
              <a:ext cx="10748010" cy="1747393"/>
            </a:xfrm>
            <a:custGeom>
              <a:avLst/>
              <a:gdLst/>
              <a:ahLst/>
              <a:cxnLst/>
              <a:rect l="l" t="t" r="r" b="b"/>
              <a:pathLst>
                <a:path w="10748010" h="1747393">
                  <a:moveTo>
                    <a:pt x="0" y="121920"/>
                  </a:moveTo>
                  <a:cubicBezTo>
                    <a:pt x="0" y="54610"/>
                    <a:pt x="55245" y="0"/>
                    <a:pt x="123444" y="0"/>
                  </a:cubicBezTo>
                  <a:lnTo>
                    <a:pt x="10624566" y="0"/>
                  </a:lnTo>
                  <a:cubicBezTo>
                    <a:pt x="10692765" y="0"/>
                    <a:pt x="10748010" y="54610"/>
                    <a:pt x="10748010" y="121920"/>
                  </a:cubicBezTo>
                  <a:lnTo>
                    <a:pt x="10748010" y="1625473"/>
                  </a:lnTo>
                  <a:cubicBezTo>
                    <a:pt x="10748010" y="1692783"/>
                    <a:pt x="10692765" y="1747393"/>
                    <a:pt x="10624566" y="1747393"/>
                  </a:cubicBezTo>
                  <a:lnTo>
                    <a:pt x="123444" y="1747393"/>
                  </a:lnTo>
                  <a:cubicBezTo>
                    <a:pt x="55245" y="1747393"/>
                    <a:pt x="0" y="1692783"/>
                    <a:pt x="0" y="1625473"/>
                  </a:cubicBez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10773410" cy="1772793"/>
            </a:xfrm>
            <a:custGeom>
              <a:avLst/>
              <a:gdLst/>
              <a:ahLst/>
              <a:cxnLst/>
              <a:rect l="l" t="t" r="r" b="b"/>
              <a:pathLst>
                <a:path w="10773410" h="1772793">
                  <a:moveTo>
                    <a:pt x="0" y="134620"/>
                  </a:moveTo>
                  <a:cubicBezTo>
                    <a:pt x="0" y="60071"/>
                    <a:pt x="61087" y="0"/>
                    <a:pt x="136144" y="0"/>
                  </a:cubicBezTo>
                  <a:lnTo>
                    <a:pt x="10637266" y="0"/>
                  </a:lnTo>
                  <a:lnTo>
                    <a:pt x="10637266" y="12700"/>
                  </a:lnTo>
                  <a:lnTo>
                    <a:pt x="10637266" y="0"/>
                  </a:lnTo>
                  <a:cubicBezTo>
                    <a:pt x="10712323" y="0"/>
                    <a:pt x="10773410" y="60071"/>
                    <a:pt x="10773410" y="134620"/>
                  </a:cubicBezTo>
                  <a:lnTo>
                    <a:pt x="10760710" y="134620"/>
                  </a:lnTo>
                  <a:lnTo>
                    <a:pt x="10773410" y="134620"/>
                  </a:lnTo>
                  <a:lnTo>
                    <a:pt x="10773410" y="1638173"/>
                  </a:lnTo>
                  <a:lnTo>
                    <a:pt x="10760710" y="1638173"/>
                  </a:lnTo>
                  <a:lnTo>
                    <a:pt x="10773410" y="1638173"/>
                  </a:lnTo>
                  <a:cubicBezTo>
                    <a:pt x="10773410" y="1712722"/>
                    <a:pt x="10712323" y="1772793"/>
                    <a:pt x="10637266" y="1772793"/>
                  </a:cubicBezTo>
                  <a:lnTo>
                    <a:pt x="10637266" y="1760093"/>
                  </a:lnTo>
                  <a:lnTo>
                    <a:pt x="10637266" y="1772793"/>
                  </a:lnTo>
                  <a:lnTo>
                    <a:pt x="136144" y="1772793"/>
                  </a:lnTo>
                  <a:lnTo>
                    <a:pt x="136144" y="1760093"/>
                  </a:lnTo>
                  <a:lnTo>
                    <a:pt x="136144" y="1772793"/>
                  </a:lnTo>
                  <a:cubicBezTo>
                    <a:pt x="61087" y="1772793"/>
                    <a:pt x="0" y="1712722"/>
                    <a:pt x="0" y="163817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638173"/>
                  </a:lnTo>
                  <a:lnTo>
                    <a:pt x="12700" y="1638173"/>
                  </a:lnTo>
                  <a:lnTo>
                    <a:pt x="25400" y="1638173"/>
                  </a:lnTo>
                  <a:cubicBezTo>
                    <a:pt x="25400" y="1698371"/>
                    <a:pt x="74803" y="1747393"/>
                    <a:pt x="136144" y="1747393"/>
                  </a:cubicBezTo>
                  <a:lnTo>
                    <a:pt x="10637266" y="1747393"/>
                  </a:lnTo>
                  <a:cubicBezTo>
                    <a:pt x="10698607" y="1747393"/>
                    <a:pt x="10748010" y="1698371"/>
                    <a:pt x="10748010" y="1638173"/>
                  </a:cubicBezTo>
                  <a:lnTo>
                    <a:pt x="10748010" y="134620"/>
                  </a:lnTo>
                  <a:cubicBezTo>
                    <a:pt x="10748010" y="74422"/>
                    <a:pt x="10698607" y="25400"/>
                    <a:pt x="10637266" y="25400"/>
                  </a:cubicBezTo>
                  <a:lnTo>
                    <a:pt x="136144" y="25400"/>
                  </a:lnTo>
                  <a:lnTo>
                    <a:pt x="136144" y="12700"/>
                  </a:lnTo>
                  <a:lnTo>
                    <a:pt x="136144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9334500" y="5159127"/>
            <a:ext cx="76200" cy="1310580"/>
            <a:chOff x="0" y="0"/>
            <a:chExt cx="101600" cy="17474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1600" cy="1747393"/>
            </a:xfrm>
            <a:custGeom>
              <a:avLst/>
              <a:gdLst/>
              <a:ahLst/>
              <a:cxnLst/>
              <a:rect l="l" t="t" r="r" b="b"/>
              <a:pathLst>
                <a:path w="101600" h="1747393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696593"/>
                  </a:lnTo>
                  <a:cubicBezTo>
                    <a:pt x="101600" y="1724660"/>
                    <a:pt x="78867" y="1747393"/>
                    <a:pt x="50800" y="1747393"/>
                  </a:cubicBezTo>
                  <a:cubicBezTo>
                    <a:pt x="22733" y="1747393"/>
                    <a:pt x="0" y="1724660"/>
                    <a:pt x="0" y="1696593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9593610" y="5332511"/>
            <a:ext cx="2576512" cy="265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Enhanced Explainability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93610" y="5704880"/>
            <a:ext cx="7638009" cy="58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Develop features to </a:t>
            </a:r>
            <a:r>
              <a:rPr lang="en-US" sz="124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highlight matched phrases</a:t>
            </a: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and provide </a:t>
            </a:r>
            <a:r>
              <a:rPr lang="en-US" sz="124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role-specific rationales</a:t>
            </a: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for improved transparency and trust.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344025" y="6624042"/>
            <a:ext cx="8080027" cy="1329630"/>
            <a:chOff x="0" y="0"/>
            <a:chExt cx="10773370" cy="1772840"/>
          </a:xfrm>
        </p:grpSpPr>
        <p:sp>
          <p:nvSpPr>
            <p:cNvPr id="41" name="Freeform 41"/>
            <p:cNvSpPr/>
            <p:nvPr/>
          </p:nvSpPr>
          <p:spPr>
            <a:xfrm>
              <a:off x="12700" y="12700"/>
              <a:ext cx="10748010" cy="1747393"/>
            </a:xfrm>
            <a:custGeom>
              <a:avLst/>
              <a:gdLst/>
              <a:ahLst/>
              <a:cxnLst/>
              <a:rect l="l" t="t" r="r" b="b"/>
              <a:pathLst>
                <a:path w="10748010" h="1747393">
                  <a:moveTo>
                    <a:pt x="0" y="121920"/>
                  </a:moveTo>
                  <a:cubicBezTo>
                    <a:pt x="0" y="54610"/>
                    <a:pt x="55245" y="0"/>
                    <a:pt x="123444" y="0"/>
                  </a:cubicBezTo>
                  <a:lnTo>
                    <a:pt x="10624566" y="0"/>
                  </a:lnTo>
                  <a:cubicBezTo>
                    <a:pt x="10692765" y="0"/>
                    <a:pt x="10748010" y="54610"/>
                    <a:pt x="10748010" y="121920"/>
                  </a:cubicBezTo>
                  <a:lnTo>
                    <a:pt x="10748010" y="1625473"/>
                  </a:lnTo>
                  <a:cubicBezTo>
                    <a:pt x="10748010" y="1692783"/>
                    <a:pt x="10692765" y="1747393"/>
                    <a:pt x="10624566" y="1747393"/>
                  </a:cubicBezTo>
                  <a:lnTo>
                    <a:pt x="123444" y="1747393"/>
                  </a:lnTo>
                  <a:cubicBezTo>
                    <a:pt x="55245" y="1747393"/>
                    <a:pt x="0" y="1692783"/>
                    <a:pt x="0" y="1625473"/>
                  </a:cubicBez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0" y="0"/>
              <a:ext cx="10773410" cy="1772793"/>
            </a:xfrm>
            <a:custGeom>
              <a:avLst/>
              <a:gdLst/>
              <a:ahLst/>
              <a:cxnLst/>
              <a:rect l="l" t="t" r="r" b="b"/>
              <a:pathLst>
                <a:path w="10773410" h="1772793">
                  <a:moveTo>
                    <a:pt x="0" y="134620"/>
                  </a:moveTo>
                  <a:cubicBezTo>
                    <a:pt x="0" y="60071"/>
                    <a:pt x="61087" y="0"/>
                    <a:pt x="136144" y="0"/>
                  </a:cubicBezTo>
                  <a:lnTo>
                    <a:pt x="10637266" y="0"/>
                  </a:lnTo>
                  <a:lnTo>
                    <a:pt x="10637266" y="12700"/>
                  </a:lnTo>
                  <a:lnTo>
                    <a:pt x="10637266" y="0"/>
                  </a:lnTo>
                  <a:cubicBezTo>
                    <a:pt x="10712323" y="0"/>
                    <a:pt x="10773410" y="60071"/>
                    <a:pt x="10773410" y="134620"/>
                  </a:cubicBezTo>
                  <a:lnTo>
                    <a:pt x="10760710" y="134620"/>
                  </a:lnTo>
                  <a:lnTo>
                    <a:pt x="10773410" y="134620"/>
                  </a:lnTo>
                  <a:lnTo>
                    <a:pt x="10773410" y="1638173"/>
                  </a:lnTo>
                  <a:lnTo>
                    <a:pt x="10760710" y="1638173"/>
                  </a:lnTo>
                  <a:lnTo>
                    <a:pt x="10773410" y="1638173"/>
                  </a:lnTo>
                  <a:cubicBezTo>
                    <a:pt x="10773410" y="1712722"/>
                    <a:pt x="10712323" y="1772793"/>
                    <a:pt x="10637266" y="1772793"/>
                  </a:cubicBezTo>
                  <a:lnTo>
                    <a:pt x="10637266" y="1760093"/>
                  </a:lnTo>
                  <a:lnTo>
                    <a:pt x="10637266" y="1772793"/>
                  </a:lnTo>
                  <a:lnTo>
                    <a:pt x="136144" y="1772793"/>
                  </a:lnTo>
                  <a:lnTo>
                    <a:pt x="136144" y="1760093"/>
                  </a:lnTo>
                  <a:lnTo>
                    <a:pt x="136144" y="1772793"/>
                  </a:lnTo>
                  <a:cubicBezTo>
                    <a:pt x="61087" y="1772793"/>
                    <a:pt x="0" y="1712722"/>
                    <a:pt x="0" y="163817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638173"/>
                  </a:lnTo>
                  <a:lnTo>
                    <a:pt x="12700" y="1638173"/>
                  </a:lnTo>
                  <a:lnTo>
                    <a:pt x="25400" y="1638173"/>
                  </a:lnTo>
                  <a:cubicBezTo>
                    <a:pt x="25400" y="1698371"/>
                    <a:pt x="74803" y="1747393"/>
                    <a:pt x="136144" y="1747393"/>
                  </a:cubicBezTo>
                  <a:lnTo>
                    <a:pt x="10637266" y="1747393"/>
                  </a:lnTo>
                  <a:cubicBezTo>
                    <a:pt x="10698607" y="1747393"/>
                    <a:pt x="10748010" y="1698371"/>
                    <a:pt x="10748010" y="1638173"/>
                  </a:cubicBezTo>
                  <a:lnTo>
                    <a:pt x="10748010" y="134620"/>
                  </a:lnTo>
                  <a:cubicBezTo>
                    <a:pt x="10748010" y="74422"/>
                    <a:pt x="10698607" y="25400"/>
                    <a:pt x="10637266" y="25400"/>
                  </a:cubicBezTo>
                  <a:lnTo>
                    <a:pt x="136144" y="25400"/>
                  </a:lnTo>
                  <a:lnTo>
                    <a:pt x="136144" y="12700"/>
                  </a:lnTo>
                  <a:lnTo>
                    <a:pt x="136144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9334500" y="6633568"/>
            <a:ext cx="76200" cy="1310580"/>
            <a:chOff x="0" y="0"/>
            <a:chExt cx="101600" cy="17474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1600" cy="1747393"/>
            </a:xfrm>
            <a:custGeom>
              <a:avLst/>
              <a:gdLst/>
              <a:ahLst/>
              <a:cxnLst/>
              <a:rect l="l" t="t" r="r" b="b"/>
              <a:pathLst>
                <a:path w="101600" h="1747393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696593"/>
                  </a:lnTo>
                  <a:cubicBezTo>
                    <a:pt x="101600" y="1724660"/>
                    <a:pt x="78867" y="1747393"/>
                    <a:pt x="50800" y="1747393"/>
                  </a:cubicBezTo>
                  <a:cubicBezTo>
                    <a:pt x="22733" y="1747393"/>
                    <a:pt x="0" y="1724660"/>
                    <a:pt x="0" y="1696593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9593610" y="6806952"/>
            <a:ext cx="2049810" cy="265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Admin Tooling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593610" y="7179320"/>
            <a:ext cx="7638009" cy="58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Introduce </a:t>
            </a:r>
            <a:r>
              <a:rPr lang="en-US" sz="124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editable skill dictionaries</a:t>
            </a: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, configurable scoring weights, and </a:t>
            </a:r>
            <a:r>
              <a:rPr lang="en-US" sz="124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audit logs</a:t>
            </a: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for administrative control and system monitoring.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9344025" y="8098482"/>
            <a:ext cx="8080027" cy="1329630"/>
            <a:chOff x="0" y="0"/>
            <a:chExt cx="10773370" cy="1772840"/>
          </a:xfrm>
        </p:grpSpPr>
        <p:sp>
          <p:nvSpPr>
            <p:cNvPr id="48" name="Freeform 48"/>
            <p:cNvSpPr/>
            <p:nvPr/>
          </p:nvSpPr>
          <p:spPr>
            <a:xfrm>
              <a:off x="12700" y="12700"/>
              <a:ext cx="10748010" cy="1747393"/>
            </a:xfrm>
            <a:custGeom>
              <a:avLst/>
              <a:gdLst/>
              <a:ahLst/>
              <a:cxnLst/>
              <a:rect l="l" t="t" r="r" b="b"/>
              <a:pathLst>
                <a:path w="10748010" h="1747393">
                  <a:moveTo>
                    <a:pt x="0" y="121920"/>
                  </a:moveTo>
                  <a:cubicBezTo>
                    <a:pt x="0" y="54610"/>
                    <a:pt x="55245" y="0"/>
                    <a:pt x="123444" y="0"/>
                  </a:cubicBezTo>
                  <a:lnTo>
                    <a:pt x="10624566" y="0"/>
                  </a:lnTo>
                  <a:cubicBezTo>
                    <a:pt x="10692765" y="0"/>
                    <a:pt x="10748010" y="54610"/>
                    <a:pt x="10748010" y="121920"/>
                  </a:cubicBezTo>
                  <a:lnTo>
                    <a:pt x="10748010" y="1625473"/>
                  </a:lnTo>
                  <a:cubicBezTo>
                    <a:pt x="10748010" y="1692783"/>
                    <a:pt x="10692765" y="1747393"/>
                    <a:pt x="10624566" y="1747393"/>
                  </a:cubicBezTo>
                  <a:lnTo>
                    <a:pt x="123444" y="1747393"/>
                  </a:lnTo>
                  <a:cubicBezTo>
                    <a:pt x="55245" y="1747393"/>
                    <a:pt x="0" y="1692783"/>
                    <a:pt x="0" y="1625473"/>
                  </a:cubicBez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10773410" cy="1772793"/>
            </a:xfrm>
            <a:custGeom>
              <a:avLst/>
              <a:gdLst/>
              <a:ahLst/>
              <a:cxnLst/>
              <a:rect l="l" t="t" r="r" b="b"/>
              <a:pathLst>
                <a:path w="10773410" h="1772793">
                  <a:moveTo>
                    <a:pt x="0" y="134620"/>
                  </a:moveTo>
                  <a:cubicBezTo>
                    <a:pt x="0" y="60071"/>
                    <a:pt x="61087" y="0"/>
                    <a:pt x="136144" y="0"/>
                  </a:cubicBezTo>
                  <a:lnTo>
                    <a:pt x="10637266" y="0"/>
                  </a:lnTo>
                  <a:lnTo>
                    <a:pt x="10637266" y="12700"/>
                  </a:lnTo>
                  <a:lnTo>
                    <a:pt x="10637266" y="0"/>
                  </a:lnTo>
                  <a:cubicBezTo>
                    <a:pt x="10712323" y="0"/>
                    <a:pt x="10773410" y="60071"/>
                    <a:pt x="10773410" y="134620"/>
                  </a:cubicBezTo>
                  <a:lnTo>
                    <a:pt x="10760710" y="134620"/>
                  </a:lnTo>
                  <a:lnTo>
                    <a:pt x="10773410" y="134620"/>
                  </a:lnTo>
                  <a:lnTo>
                    <a:pt x="10773410" y="1638173"/>
                  </a:lnTo>
                  <a:lnTo>
                    <a:pt x="10760710" y="1638173"/>
                  </a:lnTo>
                  <a:lnTo>
                    <a:pt x="10773410" y="1638173"/>
                  </a:lnTo>
                  <a:cubicBezTo>
                    <a:pt x="10773410" y="1712722"/>
                    <a:pt x="10712323" y="1772793"/>
                    <a:pt x="10637266" y="1772793"/>
                  </a:cubicBezTo>
                  <a:lnTo>
                    <a:pt x="10637266" y="1760093"/>
                  </a:lnTo>
                  <a:lnTo>
                    <a:pt x="10637266" y="1772793"/>
                  </a:lnTo>
                  <a:lnTo>
                    <a:pt x="136144" y="1772793"/>
                  </a:lnTo>
                  <a:lnTo>
                    <a:pt x="136144" y="1760093"/>
                  </a:lnTo>
                  <a:lnTo>
                    <a:pt x="136144" y="1772793"/>
                  </a:lnTo>
                  <a:cubicBezTo>
                    <a:pt x="61087" y="1772793"/>
                    <a:pt x="0" y="1712722"/>
                    <a:pt x="0" y="163817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638173"/>
                  </a:lnTo>
                  <a:lnTo>
                    <a:pt x="12700" y="1638173"/>
                  </a:lnTo>
                  <a:lnTo>
                    <a:pt x="25400" y="1638173"/>
                  </a:lnTo>
                  <a:cubicBezTo>
                    <a:pt x="25400" y="1698371"/>
                    <a:pt x="74803" y="1747393"/>
                    <a:pt x="136144" y="1747393"/>
                  </a:cubicBezTo>
                  <a:lnTo>
                    <a:pt x="10637266" y="1747393"/>
                  </a:lnTo>
                  <a:cubicBezTo>
                    <a:pt x="10698607" y="1747393"/>
                    <a:pt x="10748010" y="1698371"/>
                    <a:pt x="10748010" y="1638173"/>
                  </a:cubicBezTo>
                  <a:lnTo>
                    <a:pt x="10748010" y="134620"/>
                  </a:lnTo>
                  <a:cubicBezTo>
                    <a:pt x="10748010" y="74422"/>
                    <a:pt x="10698607" y="25400"/>
                    <a:pt x="10637266" y="25400"/>
                  </a:cubicBezTo>
                  <a:lnTo>
                    <a:pt x="136144" y="25400"/>
                  </a:lnTo>
                  <a:lnTo>
                    <a:pt x="136144" y="12700"/>
                  </a:lnTo>
                  <a:lnTo>
                    <a:pt x="136144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DD3B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9334500" y="8108007"/>
            <a:ext cx="76200" cy="1310580"/>
            <a:chOff x="0" y="0"/>
            <a:chExt cx="101600" cy="17474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1600" cy="1747393"/>
            </a:xfrm>
            <a:custGeom>
              <a:avLst/>
              <a:gdLst/>
              <a:ahLst/>
              <a:cxnLst/>
              <a:rect l="l" t="t" r="r" b="b"/>
              <a:pathLst>
                <a:path w="101600" h="1747393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696593"/>
                  </a:lnTo>
                  <a:cubicBezTo>
                    <a:pt x="101600" y="1724660"/>
                    <a:pt x="78867" y="1747393"/>
                    <a:pt x="50800" y="1747393"/>
                  </a:cubicBezTo>
                  <a:cubicBezTo>
                    <a:pt x="22733" y="1747393"/>
                    <a:pt x="0" y="1724660"/>
                    <a:pt x="0" y="1696593"/>
                  </a:cubicBez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2" name="TextBox 52"/>
          <p:cNvSpPr txBox="1"/>
          <p:nvPr/>
        </p:nvSpPr>
        <p:spPr>
          <a:xfrm>
            <a:off x="9593610" y="8281392"/>
            <a:ext cx="2049810" cy="265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Fairness &amp; Ethics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593610" y="8653760"/>
            <a:ext cx="7638009" cy="58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Implement </a:t>
            </a:r>
            <a:r>
              <a:rPr lang="en-US" sz="1249" b="1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fairness monitoring</a:t>
            </a:r>
            <a:r>
              <a:rPr lang="en-US" sz="1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with subgroup performance tracking and periodic retraining to mitigate bias and ensure equitable outcomes.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8" y="3408461"/>
            <a:ext cx="7088237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700587"/>
            <a:ext cx="11825287" cy="1270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68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Questions &amp; Discussion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6300936"/>
            <a:ext cx="16303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We appreciate your time and attention. Feel free to ask any questions you may have about our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1248</Words>
  <Application>Microsoft Office PowerPoint</Application>
  <PresentationFormat>Custom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DM Sans</vt:lpstr>
      <vt:lpstr>Calibri</vt:lpstr>
      <vt:lpstr>Libre Baskerville</vt:lpstr>
      <vt:lpstr>Arial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Automated-Resume-Screening.pptx</dc:title>
  <dc:creator>SOMASEKHARA SRINIVAS SANNAPANENI</dc:creator>
  <cp:lastModifiedBy>SOMASEKHARA SRINIVAS SANNAPANENI</cp:lastModifiedBy>
  <cp:revision>2</cp:revision>
  <dcterms:created xsi:type="dcterms:W3CDTF">2006-08-16T00:00:00Z</dcterms:created>
  <dcterms:modified xsi:type="dcterms:W3CDTF">2025-12-10T17:24:36Z</dcterms:modified>
  <dc:identifier>DAG7IERNGXM</dc:identifier>
</cp:coreProperties>
</file>